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66"/>
    <p:restoredTop sz="96301"/>
  </p:normalViewPr>
  <p:slideViewPr>
    <p:cSldViewPr snapToGrid="0" snapToObjects="1">
      <p:cViewPr>
        <p:scale>
          <a:sx n="131" d="100"/>
          <a:sy n="131" d="100"/>
        </p:scale>
        <p:origin x="184" y="160"/>
      </p:cViewPr>
      <p:guideLst>
        <p:guide orient="horz" pos="2160"/>
        <p:guide pos="2880"/>
      </p:guideLst>
    </p:cSldViewPr>
  </p:slideViewPr>
  <p:notesTextViewPr>
    <p:cViewPr>
      <p:scale>
        <a:sx n="100" d="100"/>
        <a:sy n="100" d="100"/>
      </p:scale>
      <p:origin x="0" y="-2232"/>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2408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 – TITLE SLIDE</a:t>
            </a:r>
            <a:endParaRPr lang="en-GB" dirty="0"/>
          </a:p>
          <a:p>
            <a:endParaRPr dirty="0"/>
          </a:p>
          <a:p>
            <a:r>
              <a:rPr dirty="0"/>
              <a:t>Good afternoon everyone. My name is Lydia Akosah Today I will be presenting a mental health referrals analysis dashboard that I built using Power BI.</a:t>
            </a:r>
            <a:endParaRPr lang="en-GB" dirty="0"/>
          </a:p>
          <a:p>
            <a:endParaRPr lang="en-GB" dirty="0"/>
          </a:p>
          <a:p>
            <a:r>
              <a:rPr dirty="0"/>
              <a:t> The data covers over 100,000 referrals across five North London boroughs.</a:t>
            </a:r>
            <a:endParaRPr lang="en-GB" dirty="0"/>
          </a:p>
          <a:p>
            <a:endParaRPr lang="en-GB" dirty="0"/>
          </a:p>
          <a:p>
            <a:r>
              <a:rPr dirty="0"/>
              <a:t> I hope this gives you some useful insight into referral patterns across the trust."</a:t>
            </a:r>
          </a:p>
          <a:p>
            <a:endParaRPr dirty="0"/>
          </a:p>
          <a:p>
            <a:r>
              <a:rPr dirty="0"/>
              <a:t>Time: ~30 seconds</a:t>
            </a:r>
          </a:p>
          <a:p>
            <a:r>
              <a:rPr dirty="0"/>
              <a:t>Tip: Speak slowly, make eye contact, smile. You've worked hard on this — be proud!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2 – WHAT I DID</a:t>
            </a:r>
            <a:endParaRPr lang="en-GB" dirty="0"/>
          </a:p>
          <a:p>
            <a:endParaRPr dirty="0"/>
          </a:p>
          <a:p>
            <a:r>
              <a:rPr dirty="0"/>
              <a:t>Before I show the dashboard, I want to briefly explain what I did this week. </a:t>
            </a:r>
            <a:endParaRPr lang="en-GB" dirty="0"/>
          </a:p>
          <a:p>
            <a:endParaRPr lang="en-GB" dirty="0"/>
          </a:p>
          <a:p>
            <a:r>
              <a:rPr dirty="0"/>
              <a:t>I was given a raw dataset of over 100,000 mental health referrals. I imported this into Power BI, cleaned the data in Power Query, and built an interactive dashboard. </a:t>
            </a:r>
            <a:endParaRPr lang="en-GB" dirty="0"/>
          </a:p>
          <a:p>
            <a:endParaRPr lang="en-GB" dirty="0"/>
          </a:p>
          <a:p>
            <a:r>
              <a:rPr dirty="0"/>
              <a:t>I then </a:t>
            </a:r>
            <a:r>
              <a:rPr dirty="0" err="1"/>
              <a:t>analysed</a:t>
            </a:r>
            <a:r>
              <a:rPr dirty="0"/>
              <a:t> the visuals to draw out key findings about referral patterns across North London."</a:t>
            </a:r>
          </a:p>
          <a:p>
            <a:endParaRPr dirty="0"/>
          </a:p>
          <a:p>
            <a:r>
              <a:rPr dirty="0"/>
              <a:t>Time: ~40 seconds</a:t>
            </a:r>
          </a:p>
          <a:p>
            <a:r>
              <a:rPr dirty="0"/>
              <a:t>Tip: This shows you understand the full data analyst process — not just making charts but the whole workflow.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3 – DASHBOARD OVERVIEW</a:t>
            </a:r>
            <a:endParaRPr lang="en-GB" dirty="0"/>
          </a:p>
          <a:p>
            <a:endParaRPr dirty="0"/>
          </a:p>
          <a:p>
            <a:r>
              <a:rPr dirty="0"/>
              <a:t>This is the dashboard I built in Power BI. </a:t>
            </a:r>
            <a:endParaRPr lang="en-GB" dirty="0"/>
          </a:p>
          <a:p>
            <a:endParaRPr lang="en-GB" dirty="0"/>
          </a:p>
          <a:p>
            <a:r>
              <a:rPr dirty="0"/>
              <a:t>It has five main components.</a:t>
            </a:r>
            <a:endParaRPr lang="en-GB" dirty="0"/>
          </a:p>
          <a:p>
            <a:endParaRPr lang="en-GB" dirty="0"/>
          </a:p>
          <a:p>
            <a:r>
              <a:rPr dirty="0"/>
              <a:t> At the top left is a KPI card showing the total number of referrals for whichever borough is selected.</a:t>
            </a:r>
            <a:endParaRPr lang="en-GB" dirty="0"/>
          </a:p>
          <a:p>
            <a:endParaRPr lang="en-GB" dirty="0"/>
          </a:p>
          <a:p>
            <a:r>
              <a:rPr dirty="0"/>
              <a:t> Below that is a pie chart showing the urgency distribution. </a:t>
            </a:r>
            <a:endParaRPr lang="en-GB" dirty="0"/>
          </a:p>
          <a:p>
            <a:endParaRPr lang="en-GB" dirty="0"/>
          </a:p>
          <a:p>
            <a:r>
              <a:rPr dirty="0"/>
              <a:t>In the </a:t>
            </a:r>
            <a:r>
              <a:rPr dirty="0" err="1"/>
              <a:t>centre</a:t>
            </a:r>
            <a:r>
              <a:rPr dirty="0"/>
              <a:t> is an interactive borough slicer — when you click a borough, every visual on the page updates automatically. </a:t>
            </a:r>
            <a:endParaRPr lang="en-GB" dirty="0"/>
          </a:p>
          <a:p>
            <a:endParaRPr lang="en-GB" dirty="0"/>
          </a:p>
          <a:p>
            <a:r>
              <a:rPr dirty="0"/>
              <a:t>On the right is a bar chart showing referrals by borough, and at the bottom right is a monthly trend line showing how referrals fluctuate throughout the year."</a:t>
            </a:r>
          </a:p>
          <a:p>
            <a:endParaRPr dirty="0"/>
          </a:p>
          <a:p>
            <a:r>
              <a:rPr dirty="0"/>
              <a:t>[IF SCREEN SHARING]: "Let me show you this live — I'll click on different boroughs so you can see the interactivity."</a:t>
            </a:r>
          </a:p>
          <a:p>
            <a:endParaRPr dirty="0"/>
          </a:p>
          <a:p>
            <a:r>
              <a:rPr dirty="0"/>
              <a:t>Time: ~45 seconds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4 – BOROUGH COMPARISON</a:t>
            </a:r>
          </a:p>
          <a:p>
            <a:r>
              <a:rPr dirty="0"/>
              <a:t>Looking at referral volumes by borough, Barnet is clearly the highest with just under 29,000 referrals.</a:t>
            </a:r>
            <a:endParaRPr lang="en-GB" dirty="0"/>
          </a:p>
          <a:p>
            <a:endParaRPr lang="en-GB" dirty="0"/>
          </a:p>
          <a:p>
            <a:r>
              <a:rPr dirty="0"/>
              <a:t> Camden is second with just under 23,000. </a:t>
            </a:r>
            <a:endParaRPr lang="en-GB" dirty="0"/>
          </a:p>
          <a:p>
            <a:endParaRPr lang="en-GB" dirty="0"/>
          </a:p>
          <a:p>
            <a:r>
              <a:rPr dirty="0"/>
              <a:t>Enfield and Islington are in the middle range, while Haringey has the lowest volume at around 13,500. </a:t>
            </a:r>
            <a:endParaRPr lang="en-GB" dirty="0"/>
          </a:p>
          <a:p>
            <a:endParaRPr lang="en-GB" dirty="0"/>
          </a:p>
          <a:p>
            <a:r>
              <a:rPr dirty="0"/>
              <a:t>This is a significant variation —</a:t>
            </a:r>
            <a:endParaRPr lang="en-GB" dirty="0"/>
          </a:p>
          <a:p>
            <a:endParaRPr lang="en-GB" dirty="0"/>
          </a:p>
          <a:p>
            <a:r>
              <a:rPr dirty="0"/>
              <a:t> Barnet receives more than double the referrals of Haringey. This may reflect differences in population size, but it could also suggest differences in how well communities can access mental health services, which is worth investigating further."</a:t>
            </a:r>
          </a:p>
          <a:p>
            <a:endParaRPr dirty="0"/>
          </a:p>
          <a:p>
            <a:r>
              <a:rPr dirty="0"/>
              <a:t>Time: ~45 seconds</a:t>
            </a:r>
          </a:p>
          <a:p>
            <a:r>
              <a:rPr dirty="0"/>
              <a:t>Tip: Point to each borough as you mention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5 – URGENCY DISTRIBUTION</a:t>
            </a:r>
            <a:endParaRPr lang="en-GB" dirty="0"/>
          </a:p>
          <a:p>
            <a:endParaRPr dirty="0"/>
          </a:p>
          <a:p>
            <a:r>
              <a:rPr dirty="0"/>
              <a:t>This pie chart shows how referrals are classified by urgency. </a:t>
            </a:r>
            <a:endParaRPr lang="en-GB" dirty="0"/>
          </a:p>
          <a:p>
            <a:endParaRPr lang="en-GB" dirty="0"/>
          </a:p>
          <a:p>
            <a:r>
              <a:rPr dirty="0"/>
              <a:t>The majority — 62% — are non-urgent, which is positive as it suggests most patients are being referred before reaching crisis point. </a:t>
            </a:r>
            <a:endParaRPr lang="en-GB" dirty="0"/>
          </a:p>
          <a:p>
            <a:endParaRPr lang="en-GB" dirty="0"/>
          </a:p>
          <a:p>
            <a:r>
              <a:rPr dirty="0"/>
              <a:t>However, 12% — that's over 11,800 people — are classified as emergency. </a:t>
            </a:r>
            <a:endParaRPr lang="en-GB" dirty="0"/>
          </a:p>
          <a:p>
            <a:endParaRPr lang="en-GB" dirty="0"/>
          </a:p>
          <a:p>
            <a:r>
              <a:rPr dirty="0"/>
              <a:t>This is significant. </a:t>
            </a:r>
            <a:endParaRPr lang="en-GB" dirty="0"/>
          </a:p>
          <a:p>
            <a:endParaRPr lang="en-GB" dirty="0"/>
          </a:p>
          <a:p>
            <a:r>
              <a:rPr dirty="0"/>
              <a:t>It places considerable pressure on crisis mental health teams. Additionally, nearly 18% are urgent. So combined, almost 30% of all referrals need priority or emergency intervention. </a:t>
            </a:r>
            <a:endParaRPr lang="en-GB" dirty="0"/>
          </a:p>
          <a:p>
            <a:endParaRPr lang="en-GB" dirty="0"/>
          </a:p>
          <a:p>
            <a:r>
              <a:rPr dirty="0"/>
              <a:t>This highlights a real opportunity for the trust to invest in earlier intervention services to reduce the number of people reaching crisis level before getting support."</a:t>
            </a:r>
          </a:p>
          <a:p>
            <a:endParaRPr dirty="0"/>
          </a:p>
          <a:p>
            <a:r>
              <a:rPr dirty="0"/>
              <a:t>Time: ~50 seconds</a:t>
            </a:r>
          </a:p>
          <a:p>
            <a:r>
              <a:rPr dirty="0"/>
              <a:t>Tip: The emergency figure is your strongest insight — pause on it for effect.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6 – REFERRAL SOURCES</a:t>
            </a:r>
            <a:endParaRPr lang="en-GB" dirty="0"/>
          </a:p>
          <a:p>
            <a:endParaRPr dirty="0"/>
          </a:p>
          <a:p>
            <a:r>
              <a:rPr dirty="0"/>
              <a:t>Looking at where referrals come from, GPs are by far the most common source — accounting for 38% of all referrals, that's nearly 39,000 patients. </a:t>
            </a:r>
            <a:endParaRPr lang="en-GB" dirty="0"/>
          </a:p>
          <a:p>
            <a:endParaRPr lang="en-GB" dirty="0"/>
          </a:p>
          <a:p>
            <a:r>
              <a:rPr dirty="0"/>
              <a:t>This shows how critical primary care is as a gateway to mental health support. </a:t>
            </a:r>
            <a:endParaRPr lang="en-GB" dirty="0"/>
          </a:p>
          <a:p>
            <a:endParaRPr lang="en-GB" dirty="0"/>
          </a:p>
          <a:p>
            <a:r>
              <a:rPr dirty="0"/>
              <a:t>The second most common source is Accident and Emergency departments, with over 8,700 referrals. </a:t>
            </a:r>
            <a:endParaRPr lang="en-GB" dirty="0"/>
          </a:p>
          <a:p>
            <a:endParaRPr lang="en-GB" dirty="0"/>
          </a:p>
          <a:p>
            <a:r>
              <a:rPr dirty="0"/>
              <a:t>This is a concern — it means those patients didn't get support earlier and ended up in A&amp;E first. </a:t>
            </a:r>
            <a:endParaRPr lang="en-GB" dirty="0"/>
          </a:p>
          <a:p>
            <a:endParaRPr lang="en-GB" dirty="0"/>
          </a:p>
          <a:p>
            <a:r>
              <a:rPr dirty="0"/>
              <a:t>This suggests that strengthening GP mental health training and increasing community support could help intercept patients before they reach crisis and end up in A&amp;E."</a:t>
            </a:r>
          </a:p>
          <a:p>
            <a:endParaRPr dirty="0"/>
          </a:p>
          <a:p>
            <a:r>
              <a:rPr dirty="0"/>
              <a:t>Time: ~45 seconds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7 – MONTHLY TRENDS</a:t>
            </a:r>
            <a:endParaRPr lang="en-GB" dirty="0"/>
          </a:p>
          <a:p>
            <a:endParaRPr dirty="0"/>
          </a:p>
          <a:p>
            <a:r>
              <a:rPr lang="en-GB" dirty="0"/>
              <a:t>T</a:t>
            </a:r>
            <a:r>
              <a:rPr dirty="0"/>
              <a:t>he monthly trend line shows how referrals fluctuate throughout the year.</a:t>
            </a:r>
            <a:endParaRPr lang="en-GB" dirty="0"/>
          </a:p>
          <a:p>
            <a:endParaRPr lang="en-GB" dirty="0"/>
          </a:p>
          <a:p>
            <a:r>
              <a:rPr dirty="0"/>
              <a:t> Most boroughs show peaks around mid-year, particularly July.</a:t>
            </a:r>
            <a:endParaRPr lang="en-GB" dirty="0"/>
          </a:p>
          <a:p>
            <a:endParaRPr lang="en-GB" dirty="0"/>
          </a:p>
          <a:p>
            <a:r>
              <a:rPr dirty="0"/>
              <a:t> Interestingly, there are sharp drops in August across several boroughs — this is likely due to reduced staff capacity during the summer holiday period rather than genuinely fewer patients needing help. </a:t>
            </a:r>
            <a:endParaRPr lang="en-GB" dirty="0"/>
          </a:p>
          <a:p>
            <a:endParaRPr lang="en-GB" dirty="0"/>
          </a:p>
          <a:p>
            <a:r>
              <a:rPr dirty="0"/>
              <a:t>This kind of insight is really useful for workforce planning — if the trust knows demand peaks in July, they can ensure adequate staffing before that peak arrives."</a:t>
            </a:r>
          </a:p>
          <a:p>
            <a:endParaRPr dirty="0"/>
          </a:p>
          <a:p>
            <a:r>
              <a:rPr dirty="0"/>
              <a:t>Time: ~40 seconds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8 – SUMMARY &amp; RECOMMENDATIONS</a:t>
            </a:r>
            <a:endParaRPr lang="en-GB" dirty="0"/>
          </a:p>
          <a:p>
            <a:endParaRPr dirty="0"/>
          </a:p>
          <a:p>
            <a:r>
              <a:rPr dirty="0"/>
              <a:t>To </a:t>
            </a:r>
            <a:r>
              <a:rPr dirty="0" err="1"/>
              <a:t>summarise</a:t>
            </a:r>
            <a:r>
              <a:rPr dirty="0"/>
              <a:t>, this analysis of over 100,000 NHS mental health referrals across North London has produced four key recommendations.</a:t>
            </a:r>
            <a:endParaRPr lang="en-GB" dirty="0"/>
          </a:p>
          <a:p>
            <a:endParaRPr lang="en-GB" dirty="0"/>
          </a:p>
          <a:p>
            <a:r>
              <a:rPr dirty="0"/>
              <a:t> First, there is a significant inequality in referral demand across boroughs — </a:t>
            </a:r>
            <a:endParaRPr lang="en-GB" dirty="0"/>
          </a:p>
          <a:p>
            <a:endParaRPr lang="en-GB" dirty="0"/>
          </a:p>
          <a:p>
            <a:r>
              <a:rPr dirty="0"/>
              <a:t>Barnet receives twice as many referrals as Haringey, and resource allocation should reflect this. </a:t>
            </a:r>
            <a:endParaRPr lang="en-GB" dirty="0"/>
          </a:p>
          <a:p>
            <a:endParaRPr lang="en-GB" dirty="0"/>
          </a:p>
          <a:p>
            <a:r>
              <a:rPr dirty="0"/>
              <a:t>Second, the high number of emergency referrals — over 11,000 — indicates a need for stronger early intervention services. </a:t>
            </a:r>
            <a:endParaRPr lang="en-GB" dirty="0"/>
          </a:p>
          <a:p>
            <a:endParaRPr lang="en-GB" dirty="0"/>
          </a:p>
          <a:p>
            <a:r>
              <a:rPr dirty="0"/>
              <a:t>Third, GPs are the main referral gateway, and improving their mental health training could improve both referral quality and patient outcomes.</a:t>
            </a:r>
            <a:endParaRPr lang="en-GB" dirty="0"/>
          </a:p>
          <a:p>
            <a:endParaRPr lang="en-GB" dirty="0"/>
          </a:p>
          <a:p>
            <a:r>
              <a:rPr dirty="0"/>
              <a:t> Finally, understanding the seasonal peaks in referral demand can help the trust plan staffing more effectively."</a:t>
            </a:r>
          </a:p>
          <a:p>
            <a:endParaRPr dirty="0"/>
          </a:p>
          <a:p>
            <a:r>
              <a:rPr dirty="0"/>
              <a:t>"</a:t>
            </a:r>
            <a:r>
              <a:rPr lang="en-GB" dirty="0"/>
              <a:t> to conclude, </a:t>
            </a:r>
            <a:r>
              <a:rPr dirty="0"/>
              <a:t>This has been a fantastic learning experience and has shown me how data analytics directly supports NHS service planning and decision-making. Thank you for listening</a:t>
            </a:r>
            <a:r>
              <a:rPr lang="en-GB" dirty="0"/>
              <a:t>.</a:t>
            </a:r>
            <a:endParaRPr dirty="0"/>
          </a:p>
          <a:p>
            <a:endParaRPr dirty="0"/>
          </a:p>
          <a:p>
            <a:r>
              <a:rPr dirty="0"/>
              <a:t>Time: ~60 seconds</a:t>
            </a:r>
          </a:p>
          <a:p>
            <a:r>
              <a:rPr dirty="0"/>
              <a:t>Tip: End with confidence. You've done a real analysis on real NHS data — that is genuinely impressive for a placement student.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0"/>
            <a:ext cx="12188952" cy="1828800"/>
          </a:xfrm>
          <a:prstGeom prst="rect">
            <a:avLst/>
          </a:prstGeom>
          <a:solidFill>
            <a:srgbClr val="00A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48640"/>
            <a:ext cx="10972800" cy="548640"/>
          </a:xfrm>
          <a:prstGeom prst="rect">
            <a:avLst/>
          </a:prstGeom>
          <a:noFill/>
        </p:spPr>
        <p:txBody>
          <a:bodyPr wrap="square">
            <a:spAutoFit/>
          </a:bodyPr>
          <a:lstStyle/>
          <a:p>
            <a:pPr algn="l"/>
            <a:r>
              <a:rPr sz="1400" b="0" i="0">
                <a:solidFill>
                  <a:srgbClr val="A8C8E8"/>
                </a:solidFill>
                <a:latin typeface="Calibri"/>
              </a:rPr>
              <a:t>NHS North London Foundation Trust</a:t>
            </a:r>
          </a:p>
        </p:txBody>
      </p:sp>
      <p:sp>
        <p:nvSpPr>
          <p:cNvPr id="5" name="TextBox 4"/>
          <p:cNvSpPr txBox="1"/>
          <p:nvPr/>
        </p:nvSpPr>
        <p:spPr>
          <a:xfrm>
            <a:off x="731520" y="1188720"/>
            <a:ext cx="10972800" cy="1097280"/>
          </a:xfrm>
          <a:prstGeom prst="rect">
            <a:avLst/>
          </a:prstGeom>
          <a:noFill/>
        </p:spPr>
        <p:txBody>
          <a:bodyPr wrap="square">
            <a:spAutoFit/>
          </a:bodyPr>
          <a:lstStyle/>
          <a:p>
            <a:pPr algn="l"/>
            <a:r>
              <a:rPr sz="4800" b="1" i="0">
                <a:solidFill>
                  <a:srgbClr val="FFFFFF"/>
                </a:solidFill>
                <a:latin typeface="Calibri"/>
              </a:rPr>
              <a:t>Mental Health Referrals</a:t>
            </a:r>
          </a:p>
        </p:txBody>
      </p:sp>
      <p:sp>
        <p:nvSpPr>
          <p:cNvPr id="6" name="TextBox 5"/>
          <p:cNvSpPr txBox="1"/>
          <p:nvPr/>
        </p:nvSpPr>
        <p:spPr>
          <a:xfrm>
            <a:off x="731520" y="2286000"/>
            <a:ext cx="10972800" cy="731520"/>
          </a:xfrm>
          <a:prstGeom prst="rect">
            <a:avLst/>
          </a:prstGeom>
          <a:noFill/>
        </p:spPr>
        <p:txBody>
          <a:bodyPr wrap="square">
            <a:spAutoFit/>
          </a:bodyPr>
          <a:lstStyle/>
          <a:p>
            <a:pPr algn="l"/>
            <a:r>
              <a:rPr sz="2600" b="0" i="0">
                <a:solidFill>
                  <a:srgbClr val="A8C8E8"/>
                </a:solidFill>
                <a:latin typeface="Calibri"/>
              </a:rPr>
              <a:t>Data Analysis &amp; Insights Dashboard</a:t>
            </a:r>
          </a:p>
        </p:txBody>
      </p:sp>
      <p:sp>
        <p:nvSpPr>
          <p:cNvPr id="7" name="TextBox 6"/>
          <p:cNvSpPr txBox="1"/>
          <p:nvPr/>
        </p:nvSpPr>
        <p:spPr>
          <a:xfrm>
            <a:off x="731520" y="5166360"/>
            <a:ext cx="10972800" cy="457200"/>
          </a:xfrm>
          <a:prstGeom prst="rect">
            <a:avLst/>
          </a:prstGeom>
          <a:noFill/>
        </p:spPr>
        <p:txBody>
          <a:bodyPr wrap="square">
            <a:spAutoFit/>
          </a:bodyPr>
          <a:lstStyle/>
          <a:p>
            <a:pPr algn="l"/>
            <a:r>
              <a:rPr sz="1400" b="0" i="0">
                <a:solidFill>
                  <a:srgbClr val="FFFFFF"/>
                </a:solidFill>
                <a:latin typeface="Calibri"/>
              </a:rPr>
              <a:t>Presented by: Lydia Akosah  |  Work Experience Placement  |  May 2026</a:t>
            </a:r>
          </a:p>
        </p:txBody>
      </p:sp>
      <p:sp>
        <p:nvSpPr>
          <p:cNvPr id="8" name="TextBox 7"/>
          <p:cNvSpPr txBox="1"/>
          <p:nvPr/>
        </p:nvSpPr>
        <p:spPr>
          <a:xfrm>
            <a:off x="731520" y="5623560"/>
            <a:ext cx="10972800" cy="457200"/>
          </a:xfrm>
          <a:prstGeom prst="rect">
            <a:avLst/>
          </a:prstGeom>
          <a:noFill/>
        </p:spPr>
        <p:txBody>
          <a:bodyPr wrap="square">
            <a:spAutoFit/>
          </a:bodyPr>
          <a:lstStyle/>
          <a:p>
            <a:pPr algn="l"/>
            <a:r>
              <a:rPr sz="1300" b="0" i="0">
                <a:solidFill>
                  <a:srgbClr val="C8E6FF"/>
                </a:solidFill>
                <a:latin typeface="Calibri"/>
              </a:rPr>
              <a:t>Dataset: 100,558 referrals across 5 North London Boroughs  |  Power BI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37160"/>
            <a:ext cx="10972800" cy="640080"/>
          </a:xfrm>
          <a:prstGeom prst="rect">
            <a:avLst/>
          </a:prstGeom>
          <a:noFill/>
        </p:spPr>
        <p:txBody>
          <a:bodyPr wrap="square">
            <a:spAutoFit/>
          </a:bodyPr>
          <a:lstStyle/>
          <a:p>
            <a:pPr algn="l"/>
            <a:r>
              <a:rPr sz="2800" b="1" i="0">
                <a:solidFill>
                  <a:srgbClr val="FFFFFF"/>
                </a:solidFill>
                <a:latin typeface="Calibri"/>
              </a:rPr>
              <a:t>What I Did &amp; How I Did It</a:t>
            </a:r>
          </a:p>
        </p:txBody>
      </p:sp>
      <p:sp>
        <p:nvSpPr>
          <p:cNvPr id="5" name="Rectangle 4"/>
          <p:cNvSpPr/>
          <p:nvPr/>
        </p:nvSpPr>
        <p:spPr>
          <a:xfrm>
            <a:off x="457200" y="1188720"/>
            <a:ext cx="557784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188720"/>
            <a:ext cx="5577840" cy="640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298448"/>
            <a:ext cx="5303520" cy="411480"/>
          </a:xfrm>
          <a:prstGeom prst="rect">
            <a:avLst/>
          </a:prstGeom>
          <a:noFill/>
        </p:spPr>
        <p:txBody>
          <a:bodyPr wrap="square">
            <a:spAutoFit/>
          </a:bodyPr>
          <a:lstStyle/>
          <a:p>
            <a:pPr algn="l"/>
            <a:r>
              <a:rPr sz="1600" b="1" i="0">
                <a:solidFill>
                  <a:srgbClr val="003087"/>
                </a:solidFill>
                <a:latin typeface="Calibri"/>
              </a:rPr>
              <a:t>1  Raw Data</a:t>
            </a:r>
          </a:p>
        </p:txBody>
      </p:sp>
      <p:sp>
        <p:nvSpPr>
          <p:cNvPr id="8" name="TextBox 7"/>
          <p:cNvSpPr txBox="1"/>
          <p:nvPr/>
        </p:nvSpPr>
        <p:spPr>
          <a:xfrm>
            <a:off x="594360" y="1737360"/>
            <a:ext cx="5303520" cy="1463040"/>
          </a:xfrm>
          <a:prstGeom prst="rect">
            <a:avLst/>
          </a:prstGeom>
          <a:noFill/>
        </p:spPr>
        <p:txBody>
          <a:bodyPr wrap="square">
            <a:spAutoFit/>
          </a:bodyPr>
          <a:lstStyle/>
          <a:p>
            <a:pPr algn="l"/>
            <a:r>
              <a:rPr sz="1200" b="0" i="0">
                <a:solidFill>
                  <a:srgbClr val="1A1A1A"/>
                </a:solidFill>
                <a:latin typeface="Calibri"/>
              </a:rPr>
              <a:t>Received a dataset of 100,558 NHS mental health referrals covering boroughs, urgency, referral source, waiting times and discharge information.</a:t>
            </a:r>
          </a:p>
        </p:txBody>
      </p:sp>
      <p:sp>
        <p:nvSpPr>
          <p:cNvPr id="9" name="Rectangle 8"/>
          <p:cNvSpPr/>
          <p:nvPr/>
        </p:nvSpPr>
        <p:spPr>
          <a:xfrm>
            <a:off x="6400800" y="1188720"/>
            <a:ext cx="557784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188720"/>
            <a:ext cx="5577840" cy="640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1298448"/>
            <a:ext cx="5303520" cy="411480"/>
          </a:xfrm>
          <a:prstGeom prst="rect">
            <a:avLst/>
          </a:prstGeom>
          <a:noFill/>
        </p:spPr>
        <p:txBody>
          <a:bodyPr wrap="square">
            <a:spAutoFit/>
          </a:bodyPr>
          <a:lstStyle/>
          <a:p>
            <a:pPr algn="l"/>
            <a:r>
              <a:rPr sz="1600" b="1" i="0">
                <a:solidFill>
                  <a:srgbClr val="003087"/>
                </a:solidFill>
                <a:latin typeface="Calibri"/>
              </a:rPr>
              <a:t>2  Power BI</a:t>
            </a:r>
          </a:p>
        </p:txBody>
      </p:sp>
      <p:sp>
        <p:nvSpPr>
          <p:cNvPr id="12" name="TextBox 11"/>
          <p:cNvSpPr txBox="1"/>
          <p:nvPr/>
        </p:nvSpPr>
        <p:spPr>
          <a:xfrm>
            <a:off x="6537960" y="1737360"/>
            <a:ext cx="5303520" cy="1463040"/>
          </a:xfrm>
          <a:prstGeom prst="rect">
            <a:avLst/>
          </a:prstGeom>
          <a:noFill/>
        </p:spPr>
        <p:txBody>
          <a:bodyPr wrap="square">
            <a:spAutoFit/>
          </a:bodyPr>
          <a:lstStyle/>
          <a:p>
            <a:pPr algn="l"/>
            <a:r>
              <a:rPr sz="1200" b="0" i="0">
                <a:solidFill>
                  <a:srgbClr val="1A1A1A"/>
                </a:solidFill>
                <a:latin typeface="Calibri"/>
              </a:rPr>
              <a:t>Imported the data into Power BI web (app.powerbi.com) and used Power Query to clean and prepare the data for analysis.</a:t>
            </a:r>
          </a:p>
        </p:txBody>
      </p:sp>
      <p:sp>
        <p:nvSpPr>
          <p:cNvPr id="13" name="Rectangle 12"/>
          <p:cNvSpPr/>
          <p:nvPr/>
        </p:nvSpPr>
        <p:spPr>
          <a:xfrm>
            <a:off x="457200" y="3657600"/>
            <a:ext cx="557784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657600"/>
            <a:ext cx="5577840" cy="640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767328"/>
            <a:ext cx="5303520" cy="411480"/>
          </a:xfrm>
          <a:prstGeom prst="rect">
            <a:avLst/>
          </a:prstGeom>
          <a:noFill/>
        </p:spPr>
        <p:txBody>
          <a:bodyPr wrap="square">
            <a:spAutoFit/>
          </a:bodyPr>
          <a:lstStyle/>
          <a:p>
            <a:pPr algn="l"/>
            <a:r>
              <a:rPr sz="1600" b="1" i="0">
                <a:solidFill>
                  <a:srgbClr val="003087"/>
                </a:solidFill>
                <a:latin typeface="Calibri"/>
              </a:rPr>
              <a:t>3  Dashboard</a:t>
            </a:r>
          </a:p>
        </p:txBody>
      </p:sp>
      <p:sp>
        <p:nvSpPr>
          <p:cNvPr id="16" name="TextBox 15"/>
          <p:cNvSpPr txBox="1"/>
          <p:nvPr/>
        </p:nvSpPr>
        <p:spPr>
          <a:xfrm>
            <a:off x="594360" y="4206240"/>
            <a:ext cx="5303520" cy="1463040"/>
          </a:xfrm>
          <a:prstGeom prst="rect">
            <a:avLst/>
          </a:prstGeom>
          <a:noFill/>
        </p:spPr>
        <p:txBody>
          <a:bodyPr wrap="square">
            <a:spAutoFit/>
          </a:bodyPr>
          <a:lstStyle/>
          <a:p>
            <a:pPr algn="l"/>
            <a:r>
              <a:rPr sz="1200" b="0" i="0">
                <a:solidFill>
                  <a:srgbClr val="1A1A1A"/>
                </a:solidFill>
                <a:latin typeface="Calibri"/>
              </a:rPr>
              <a:t>Built an interactive dashboard with charts, a KPI card, borough slicer, and monthly trend analysis — all updating in real time.</a:t>
            </a:r>
          </a:p>
        </p:txBody>
      </p:sp>
      <p:sp>
        <p:nvSpPr>
          <p:cNvPr id="17" name="Rectangle 16"/>
          <p:cNvSpPr/>
          <p:nvPr/>
        </p:nvSpPr>
        <p:spPr>
          <a:xfrm>
            <a:off x="6400800" y="3657600"/>
            <a:ext cx="557784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3657600"/>
            <a:ext cx="5577840" cy="640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37960" y="3767328"/>
            <a:ext cx="5303520" cy="411480"/>
          </a:xfrm>
          <a:prstGeom prst="rect">
            <a:avLst/>
          </a:prstGeom>
          <a:noFill/>
        </p:spPr>
        <p:txBody>
          <a:bodyPr wrap="square">
            <a:spAutoFit/>
          </a:bodyPr>
          <a:lstStyle/>
          <a:p>
            <a:pPr algn="l"/>
            <a:r>
              <a:rPr sz="1600" b="1" i="0">
                <a:solidFill>
                  <a:srgbClr val="003087"/>
                </a:solidFill>
                <a:latin typeface="Calibri"/>
              </a:rPr>
              <a:t>4  Insights</a:t>
            </a:r>
          </a:p>
        </p:txBody>
      </p:sp>
      <p:sp>
        <p:nvSpPr>
          <p:cNvPr id="20" name="TextBox 19"/>
          <p:cNvSpPr txBox="1"/>
          <p:nvPr/>
        </p:nvSpPr>
        <p:spPr>
          <a:xfrm>
            <a:off x="6537960" y="4206240"/>
            <a:ext cx="5303520" cy="1463040"/>
          </a:xfrm>
          <a:prstGeom prst="rect">
            <a:avLst/>
          </a:prstGeom>
          <a:noFill/>
        </p:spPr>
        <p:txBody>
          <a:bodyPr wrap="square">
            <a:spAutoFit/>
          </a:bodyPr>
          <a:lstStyle/>
          <a:p>
            <a:pPr algn="l"/>
            <a:r>
              <a:rPr sz="1200" b="0" i="0">
                <a:solidFill>
                  <a:srgbClr val="1A1A1A"/>
                </a:solidFill>
                <a:latin typeface="Calibri"/>
              </a:rPr>
              <a:t>Analysed the visuals to identify patterns in referral volume, urgency distribution, referral sources and borough differences.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772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
            <a:ext cx="9144000" cy="548640"/>
          </a:xfrm>
          <a:prstGeom prst="rect">
            <a:avLst/>
          </a:prstGeom>
          <a:noFill/>
        </p:spPr>
        <p:txBody>
          <a:bodyPr wrap="square">
            <a:spAutoFit/>
          </a:bodyPr>
          <a:lstStyle/>
          <a:p>
            <a:pPr algn="l"/>
            <a:r>
              <a:rPr sz="2400" b="1" i="0">
                <a:solidFill>
                  <a:srgbClr val="FFFFFF"/>
                </a:solidFill>
                <a:latin typeface="Calibri"/>
              </a:rPr>
              <a:t>The Dashboard — Overview</a:t>
            </a:r>
          </a:p>
        </p:txBody>
      </p:sp>
      <p:sp>
        <p:nvSpPr>
          <p:cNvPr id="5" name="TextBox 4"/>
          <p:cNvSpPr txBox="1"/>
          <p:nvPr/>
        </p:nvSpPr>
        <p:spPr>
          <a:xfrm>
            <a:off x="7315200" y="182880"/>
            <a:ext cx="4572000" cy="365760"/>
          </a:xfrm>
          <a:prstGeom prst="rect">
            <a:avLst/>
          </a:prstGeom>
          <a:noFill/>
        </p:spPr>
        <p:txBody>
          <a:bodyPr wrap="square">
            <a:spAutoFit/>
          </a:bodyPr>
          <a:lstStyle/>
          <a:p>
            <a:pPr algn="l"/>
            <a:r>
              <a:rPr sz="1200" b="0" i="0">
                <a:solidFill>
                  <a:srgbClr val="A8C8E8"/>
                </a:solidFill>
                <a:latin typeface="Calibri"/>
              </a:rPr>
              <a:t>Interactive Power BI Dashboard built from raw NHS referrals data</a:t>
            </a:r>
          </a:p>
        </p:txBody>
      </p:sp>
      <p:pic>
        <p:nvPicPr>
          <p:cNvPr id="6" name="Picture 5" descr="Screenshot_2026-05-28_at_19_55_09.png"/>
          <p:cNvPicPr>
            <a:picLocks noChangeAspect="1"/>
          </p:cNvPicPr>
          <p:nvPr/>
        </p:nvPicPr>
        <p:blipFill>
          <a:blip r:embed="rId3"/>
          <a:stretch>
            <a:fillRect/>
          </a:stretch>
        </p:blipFill>
        <p:spPr>
          <a:xfrm>
            <a:off x="274320" y="868680"/>
            <a:ext cx="8229600" cy="5120640"/>
          </a:xfrm>
          <a:prstGeom prst="rect">
            <a:avLst/>
          </a:prstGeom>
        </p:spPr>
      </p:pic>
      <p:sp>
        <p:nvSpPr>
          <p:cNvPr id="7" name="Rectangle 6"/>
          <p:cNvSpPr/>
          <p:nvPr/>
        </p:nvSpPr>
        <p:spPr>
          <a:xfrm>
            <a:off x="8641080" y="1005840"/>
            <a:ext cx="3383280" cy="8229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32520" y="1051560"/>
            <a:ext cx="3200400" cy="320040"/>
          </a:xfrm>
          <a:prstGeom prst="rect">
            <a:avLst/>
          </a:prstGeom>
          <a:noFill/>
        </p:spPr>
        <p:txBody>
          <a:bodyPr wrap="square">
            <a:spAutoFit/>
          </a:bodyPr>
          <a:lstStyle/>
          <a:p>
            <a:pPr algn="l"/>
            <a:r>
              <a:rPr sz="1200" b="1" i="0">
                <a:solidFill>
                  <a:srgbClr val="00A499"/>
                </a:solidFill>
                <a:latin typeface="Calibri"/>
              </a:rPr>
              <a:t>KPI Card</a:t>
            </a:r>
          </a:p>
        </p:txBody>
      </p:sp>
      <p:sp>
        <p:nvSpPr>
          <p:cNvPr id="9" name="TextBox 8"/>
          <p:cNvSpPr txBox="1"/>
          <p:nvPr/>
        </p:nvSpPr>
        <p:spPr>
          <a:xfrm>
            <a:off x="8732520" y="1371600"/>
            <a:ext cx="3200400" cy="411480"/>
          </a:xfrm>
          <a:prstGeom prst="rect">
            <a:avLst/>
          </a:prstGeom>
          <a:noFill/>
        </p:spPr>
        <p:txBody>
          <a:bodyPr wrap="square">
            <a:spAutoFit/>
          </a:bodyPr>
          <a:lstStyle/>
          <a:p>
            <a:pPr algn="l"/>
            <a:r>
              <a:rPr sz="1000" b="0" i="0">
                <a:solidFill>
                  <a:srgbClr val="FFFFFF"/>
                </a:solidFill>
                <a:latin typeface="Calibri"/>
              </a:rPr>
              <a:t>Shows total referrals for selected borough</a:t>
            </a:r>
          </a:p>
        </p:txBody>
      </p:sp>
      <p:sp>
        <p:nvSpPr>
          <p:cNvPr id="10" name="Rectangle 9"/>
          <p:cNvSpPr/>
          <p:nvPr/>
        </p:nvSpPr>
        <p:spPr>
          <a:xfrm>
            <a:off x="8641080" y="2103120"/>
            <a:ext cx="3383280" cy="8229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32520" y="2148839"/>
            <a:ext cx="3200400" cy="320040"/>
          </a:xfrm>
          <a:prstGeom prst="rect">
            <a:avLst/>
          </a:prstGeom>
          <a:noFill/>
        </p:spPr>
        <p:txBody>
          <a:bodyPr wrap="square">
            <a:spAutoFit/>
          </a:bodyPr>
          <a:lstStyle/>
          <a:p>
            <a:pPr algn="l"/>
            <a:r>
              <a:rPr sz="1200" b="1" i="0">
                <a:solidFill>
                  <a:srgbClr val="00A499"/>
                </a:solidFill>
                <a:latin typeface="Calibri"/>
              </a:rPr>
              <a:t>Urgency Chart</a:t>
            </a:r>
          </a:p>
        </p:txBody>
      </p:sp>
      <p:sp>
        <p:nvSpPr>
          <p:cNvPr id="12" name="TextBox 11"/>
          <p:cNvSpPr txBox="1"/>
          <p:nvPr/>
        </p:nvSpPr>
        <p:spPr>
          <a:xfrm>
            <a:off x="8732520" y="2468879"/>
            <a:ext cx="3200400" cy="411480"/>
          </a:xfrm>
          <a:prstGeom prst="rect">
            <a:avLst/>
          </a:prstGeom>
          <a:noFill/>
        </p:spPr>
        <p:txBody>
          <a:bodyPr wrap="square">
            <a:spAutoFit/>
          </a:bodyPr>
          <a:lstStyle/>
          <a:p>
            <a:pPr algn="l"/>
            <a:r>
              <a:rPr sz="1000" b="0" i="0">
                <a:solidFill>
                  <a:srgbClr val="FFFFFF"/>
                </a:solidFill>
                <a:latin typeface="Calibri"/>
              </a:rPr>
              <a:t>Pie chart showing urgency split</a:t>
            </a:r>
          </a:p>
        </p:txBody>
      </p:sp>
      <p:sp>
        <p:nvSpPr>
          <p:cNvPr id="13" name="Rectangle 12"/>
          <p:cNvSpPr/>
          <p:nvPr/>
        </p:nvSpPr>
        <p:spPr>
          <a:xfrm>
            <a:off x="8641080" y="3200400"/>
            <a:ext cx="3383280" cy="8229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32520" y="3246120"/>
            <a:ext cx="3200400" cy="320040"/>
          </a:xfrm>
          <a:prstGeom prst="rect">
            <a:avLst/>
          </a:prstGeom>
          <a:noFill/>
        </p:spPr>
        <p:txBody>
          <a:bodyPr wrap="square">
            <a:spAutoFit/>
          </a:bodyPr>
          <a:lstStyle/>
          <a:p>
            <a:pPr algn="l"/>
            <a:r>
              <a:rPr sz="1200" b="1" i="0">
                <a:solidFill>
                  <a:srgbClr val="00A499"/>
                </a:solidFill>
                <a:latin typeface="Calibri"/>
              </a:rPr>
              <a:t>Borough Filter</a:t>
            </a:r>
          </a:p>
        </p:txBody>
      </p:sp>
      <p:sp>
        <p:nvSpPr>
          <p:cNvPr id="15" name="TextBox 14"/>
          <p:cNvSpPr txBox="1"/>
          <p:nvPr/>
        </p:nvSpPr>
        <p:spPr>
          <a:xfrm>
            <a:off x="8732520" y="3566160"/>
            <a:ext cx="3200400" cy="411480"/>
          </a:xfrm>
          <a:prstGeom prst="rect">
            <a:avLst/>
          </a:prstGeom>
          <a:noFill/>
        </p:spPr>
        <p:txBody>
          <a:bodyPr wrap="square">
            <a:spAutoFit/>
          </a:bodyPr>
          <a:lstStyle/>
          <a:p>
            <a:pPr algn="l"/>
            <a:r>
              <a:rPr sz="1000" b="0" i="0">
                <a:solidFill>
                  <a:srgbClr val="FFFFFF"/>
                </a:solidFill>
                <a:latin typeface="Calibri"/>
              </a:rPr>
              <a:t>Interactive slicer — click to filter all visuals</a:t>
            </a:r>
          </a:p>
        </p:txBody>
      </p:sp>
      <p:sp>
        <p:nvSpPr>
          <p:cNvPr id="16" name="Rectangle 15"/>
          <p:cNvSpPr/>
          <p:nvPr/>
        </p:nvSpPr>
        <p:spPr>
          <a:xfrm>
            <a:off x="8641080" y="4297680"/>
            <a:ext cx="3383280" cy="8229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32520" y="4343400"/>
            <a:ext cx="3200400" cy="320040"/>
          </a:xfrm>
          <a:prstGeom prst="rect">
            <a:avLst/>
          </a:prstGeom>
          <a:noFill/>
        </p:spPr>
        <p:txBody>
          <a:bodyPr wrap="square">
            <a:spAutoFit/>
          </a:bodyPr>
          <a:lstStyle/>
          <a:p>
            <a:pPr algn="l"/>
            <a:r>
              <a:rPr sz="1200" b="1" i="0">
                <a:solidFill>
                  <a:srgbClr val="00A499"/>
                </a:solidFill>
                <a:latin typeface="Calibri"/>
              </a:rPr>
              <a:t>Trend Line</a:t>
            </a:r>
          </a:p>
        </p:txBody>
      </p:sp>
      <p:sp>
        <p:nvSpPr>
          <p:cNvPr id="18" name="TextBox 17"/>
          <p:cNvSpPr txBox="1"/>
          <p:nvPr/>
        </p:nvSpPr>
        <p:spPr>
          <a:xfrm>
            <a:off x="8732520" y="4663440"/>
            <a:ext cx="3200400" cy="411480"/>
          </a:xfrm>
          <a:prstGeom prst="rect">
            <a:avLst/>
          </a:prstGeom>
          <a:noFill/>
        </p:spPr>
        <p:txBody>
          <a:bodyPr wrap="square">
            <a:spAutoFit/>
          </a:bodyPr>
          <a:lstStyle/>
          <a:p>
            <a:pPr algn="l"/>
            <a:r>
              <a:rPr sz="1000" b="0" i="0">
                <a:solidFill>
                  <a:srgbClr val="FFFFFF"/>
                </a:solidFill>
                <a:latin typeface="Calibri"/>
              </a:rPr>
              <a:t>Monthly referral trends over the year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772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
            <a:ext cx="10972800" cy="548640"/>
          </a:xfrm>
          <a:prstGeom prst="rect">
            <a:avLst/>
          </a:prstGeom>
          <a:noFill/>
        </p:spPr>
        <p:txBody>
          <a:bodyPr wrap="square">
            <a:spAutoFit/>
          </a:bodyPr>
          <a:lstStyle/>
          <a:p>
            <a:pPr algn="l"/>
            <a:r>
              <a:rPr sz="2400" b="1" i="0">
                <a:solidFill>
                  <a:srgbClr val="FFFFFF"/>
                </a:solidFill>
                <a:latin typeface="Calibri"/>
              </a:rPr>
              <a:t>Finding 1 — Referral Volume by Borough</a:t>
            </a:r>
          </a:p>
        </p:txBody>
      </p:sp>
      <p:pic>
        <p:nvPicPr>
          <p:cNvPr id="5" name="Picture 4" descr="Screenshot_2026-05-28_at_19_55_09.png"/>
          <p:cNvPicPr>
            <a:picLocks noChangeAspect="1"/>
          </p:cNvPicPr>
          <p:nvPr/>
        </p:nvPicPr>
        <p:blipFill>
          <a:blip r:embed="rId3"/>
          <a:stretch>
            <a:fillRect/>
          </a:stretch>
        </p:blipFill>
        <p:spPr>
          <a:xfrm>
            <a:off x="274320" y="914400"/>
            <a:ext cx="2194560" cy="3200400"/>
          </a:xfrm>
          <a:prstGeom prst="rect">
            <a:avLst/>
          </a:prstGeom>
        </p:spPr>
      </p:pic>
      <p:sp>
        <p:nvSpPr>
          <p:cNvPr id="6" name="Rectangle 5"/>
          <p:cNvSpPr/>
          <p:nvPr/>
        </p:nvSpPr>
        <p:spPr>
          <a:xfrm>
            <a:off x="274320" y="4114800"/>
            <a:ext cx="2194560" cy="4114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114800"/>
            <a:ext cx="2194560" cy="411480"/>
          </a:xfrm>
          <a:prstGeom prst="rect">
            <a:avLst/>
          </a:prstGeom>
          <a:noFill/>
        </p:spPr>
        <p:txBody>
          <a:bodyPr wrap="square">
            <a:spAutoFit/>
          </a:bodyPr>
          <a:lstStyle/>
          <a:p>
            <a:pPr algn="ctr"/>
            <a:r>
              <a:rPr sz="1100" b="1" i="0">
                <a:solidFill>
                  <a:srgbClr val="FFFFFF"/>
                </a:solidFill>
                <a:latin typeface="Calibri"/>
              </a:rPr>
              <a:t>Barnet: 28,992</a:t>
            </a:r>
          </a:p>
        </p:txBody>
      </p:sp>
      <p:pic>
        <p:nvPicPr>
          <p:cNvPr id="8" name="Picture 7" descr="Screenshot_2026-05-28_at_19_56_00.png"/>
          <p:cNvPicPr>
            <a:picLocks noChangeAspect="1"/>
          </p:cNvPicPr>
          <p:nvPr/>
        </p:nvPicPr>
        <p:blipFill>
          <a:blip r:embed="rId4"/>
          <a:stretch>
            <a:fillRect/>
          </a:stretch>
        </p:blipFill>
        <p:spPr>
          <a:xfrm>
            <a:off x="2697480" y="914400"/>
            <a:ext cx="2194560" cy="3200400"/>
          </a:xfrm>
          <a:prstGeom prst="rect">
            <a:avLst/>
          </a:prstGeom>
        </p:spPr>
      </p:pic>
      <p:sp>
        <p:nvSpPr>
          <p:cNvPr id="9" name="Rectangle 8"/>
          <p:cNvSpPr/>
          <p:nvPr/>
        </p:nvSpPr>
        <p:spPr>
          <a:xfrm>
            <a:off x="2697480" y="4114800"/>
            <a:ext cx="2194560" cy="41148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97480" y="4114800"/>
            <a:ext cx="2194560" cy="411480"/>
          </a:xfrm>
          <a:prstGeom prst="rect">
            <a:avLst/>
          </a:prstGeom>
          <a:noFill/>
        </p:spPr>
        <p:txBody>
          <a:bodyPr wrap="square">
            <a:spAutoFit/>
          </a:bodyPr>
          <a:lstStyle/>
          <a:p>
            <a:pPr algn="ctr"/>
            <a:r>
              <a:rPr sz="1100" b="1" i="0">
                <a:solidFill>
                  <a:srgbClr val="FFFFFF"/>
                </a:solidFill>
                <a:latin typeface="Calibri"/>
              </a:rPr>
              <a:t>Camden: 22,983</a:t>
            </a:r>
          </a:p>
        </p:txBody>
      </p:sp>
      <p:pic>
        <p:nvPicPr>
          <p:cNvPr id="11" name="Picture 10" descr="Screenshot_2026-05-28_at_19_56_14.png"/>
          <p:cNvPicPr>
            <a:picLocks noChangeAspect="1"/>
          </p:cNvPicPr>
          <p:nvPr/>
        </p:nvPicPr>
        <p:blipFill>
          <a:blip r:embed="rId5"/>
          <a:stretch>
            <a:fillRect/>
          </a:stretch>
        </p:blipFill>
        <p:spPr>
          <a:xfrm>
            <a:off x="5120640" y="914400"/>
            <a:ext cx="2194560" cy="3200400"/>
          </a:xfrm>
          <a:prstGeom prst="rect">
            <a:avLst/>
          </a:prstGeom>
        </p:spPr>
      </p:pic>
      <p:sp>
        <p:nvSpPr>
          <p:cNvPr id="12" name="Rectangle 11"/>
          <p:cNvSpPr/>
          <p:nvPr/>
        </p:nvSpPr>
        <p:spPr>
          <a:xfrm>
            <a:off x="5120640" y="4114800"/>
            <a:ext cx="2194560" cy="41148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20640" y="4114800"/>
            <a:ext cx="2194560" cy="411480"/>
          </a:xfrm>
          <a:prstGeom prst="rect">
            <a:avLst/>
          </a:prstGeom>
          <a:noFill/>
        </p:spPr>
        <p:txBody>
          <a:bodyPr wrap="square">
            <a:spAutoFit/>
          </a:bodyPr>
          <a:lstStyle/>
          <a:p>
            <a:pPr algn="ctr"/>
            <a:r>
              <a:rPr sz="1100" b="1" i="0">
                <a:solidFill>
                  <a:srgbClr val="FFFFFF"/>
                </a:solidFill>
                <a:latin typeface="Calibri"/>
              </a:rPr>
              <a:t>Enfield: 18,325</a:t>
            </a:r>
          </a:p>
        </p:txBody>
      </p:sp>
      <p:pic>
        <p:nvPicPr>
          <p:cNvPr id="14" name="Picture 13" descr="Screenshot_2026-05-28_at_19_56_26.png"/>
          <p:cNvPicPr>
            <a:picLocks noChangeAspect="1"/>
          </p:cNvPicPr>
          <p:nvPr/>
        </p:nvPicPr>
        <p:blipFill>
          <a:blip r:embed="rId6"/>
          <a:stretch>
            <a:fillRect/>
          </a:stretch>
        </p:blipFill>
        <p:spPr>
          <a:xfrm>
            <a:off x="7543800" y="914400"/>
            <a:ext cx="2194560" cy="3200400"/>
          </a:xfrm>
          <a:prstGeom prst="rect">
            <a:avLst/>
          </a:prstGeom>
        </p:spPr>
      </p:pic>
      <p:sp>
        <p:nvSpPr>
          <p:cNvPr id="15" name="Rectangle 14"/>
          <p:cNvSpPr/>
          <p:nvPr/>
        </p:nvSpPr>
        <p:spPr>
          <a:xfrm>
            <a:off x="7543800" y="4114800"/>
            <a:ext cx="2194560" cy="411480"/>
          </a:xfrm>
          <a:prstGeom prst="rect">
            <a:avLst/>
          </a:prstGeom>
          <a:solidFill>
            <a:srgbClr val="C8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4114800"/>
            <a:ext cx="2194560" cy="411480"/>
          </a:xfrm>
          <a:prstGeom prst="rect">
            <a:avLst/>
          </a:prstGeom>
          <a:noFill/>
        </p:spPr>
        <p:txBody>
          <a:bodyPr wrap="square">
            <a:spAutoFit/>
          </a:bodyPr>
          <a:lstStyle/>
          <a:p>
            <a:pPr algn="ctr"/>
            <a:r>
              <a:rPr sz="1100" b="1" i="0">
                <a:solidFill>
                  <a:srgbClr val="FFFFFF"/>
                </a:solidFill>
                <a:latin typeface="Calibri"/>
              </a:rPr>
              <a:t>Haringey: 13,559</a:t>
            </a:r>
          </a:p>
        </p:txBody>
      </p:sp>
      <p:pic>
        <p:nvPicPr>
          <p:cNvPr id="17" name="Picture 16" descr="Screenshot_2026-05-28_at_19_56_42.png"/>
          <p:cNvPicPr>
            <a:picLocks noChangeAspect="1"/>
          </p:cNvPicPr>
          <p:nvPr/>
        </p:nvPicPr>
        <p:blipFill>
          <a:blip r:embed="rId7"/>
          <a:stretch>
            <a:fillRect/>
          </a:stretch>
        </p:blipFill>
        <p:spPr>
          <a:xfrm>
            <a:off x="9966960" y="914400"/>
            <a:ext cx="2194560" cy="3200400"/>
          </a:xfrm>
          <a:prstGeom prst="rect">
            <a:avLst/>
          </a:prstGeom>
        </p:spPr>
      </p:pic>
      <p:sp>
        <p:nvSpPr>
          <p:cNvPr id="18" name="Rectangle 17"/>
          <p:cNvSpPr/>
          <p:nvPr/>
        </p:nvSpPr>
        <p:spPr>
          <a:xfrm>
            <a:off x="9966960" y="4114800"/>
            <a:ext cx="2194560" cy="41148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66960" y="4114800"/>
            <a:ext cx="2194560" cy="411480"/>
          </a:xfrm>
          <a:prstGeom prst="rect">
            <a:avLst/>
          </a:prstGeom>
          <a:noFill/>
        </p:spPr>
        <p:txBody>
          <a:bodyPr wrap="square">
            <a:spAutoFit/>
          </a:bodyPr>
          <a:lstStyle/>
          <a:p>
            <a:pPr algn="ctr"/>
            <a:r>
              <a:rPr sz="1100" b="1" i="0">
                <a:solidFill>
                  <a:srgbClr val="FFFFFF"/>
                </a:solidFill>
                <a:latin typeface="Calibri"/>
              </a:rPr>
              <a:t>Islington: 16,699</a:t>
            </a:r>
          </a:p>
        </p:txBody>
      </p:sp>
      <p:sp>
        <p:nvSpPr>
          <p:cNvPr id="20" name="Rectangle 19"/>
          <p:cNvSpPr/>
          <p:nvPr/>
        </p:nvSpPr>
        <p:spPr>
          <a:xfrm>
            <a:off x="274320" y="4663440"/>
            <a:ext cx="11612880" cy="18288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754880"/>
            <a:ext cx="1828800" cy="365760"/>
          </a:xfrm>
          <a:prstGeom prst="rect">
            <a:avLst/>
          </a:prstGeom>
          <a:noFill/>
        </p:spPr>
        <p:txBody>
          <a:bodyPr wrap="square">
            <a:spAutoFit/>
          </a:bodyPr>
          <a:lstStyle/>
          <a:p>
            <a:pPr algn="l"/>
            <a:r>
              <a:rPr sz="1300" b="1" i="0">
                <a:solidFill>
                  <a:srgbClr val="003087"/>
                </a:solidFill>
                <a:latin typeface="Calibri"/>
              </a:rPr>
              <a:t>Key Insight:</a:t>
            </a:r>
          </a:p>
        </p:txBody>
      </p:sp>
      <p:sp>
        <p:nvSpPr>
          <p:cNvPr id="22" name="TextBox 21"/>
          <p:cNvSpPr txBox="1"/>
          <p:nvPr/>
        </p:nvSpPr>
        <p:spPr>
          <a:xfrm>
            <a:off x="457200" y="5120640"/>
            <a:ext cx="11247120" cy="1188720"/>
          </a:xfrm>
          <a:prstGeom prst="rect">
            <a:avLst/>
          </a:prstGeom>
          <a:noFill/>
        </p:spPr>
        <p:txBody>
          <a:bodyPr wrap="square">
            <a:spAutoFit/>
          </a:bodyPr>
          <a:lstStyle/>
          <a:p>
            <a:pPr algn="l"/>
            <a:r>
              <a:rPr sz="1200" b="0" i="0">
                <a:solidFill>
                  <a:srgbClr val="1A1A1A"/>
                </a:solidFill>
                <a:latin typeface="Calibri"/>
              </a:rPr>
              <a:t>Barnet has the highest demand at 28,992 referrals — more than double Haringey (13,559). This significant variation suggests differences in population size, service access, or community mental health needs across North London boroughs. Resource allocation should reflect these differences.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772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
            <a:ext cx="10972800" cy="548640"/>
          </a:xfrm>
          <a:prstGeom prst="rect">
            <a:avLst/>
          </a:prstGeom>
          <a:noFill/>
        </p:spPr>
        <p:txBody>
          <a:bodyPr wrap="square">
            <a:spAutoFit/>
          </a:bodyPr>
          <a:lstStyle/>
          <a:p>
            <a:pPr algn="l"/>
            <a:r>
              <a:rPr sz="2400" b="1" i="0">
                <a:solidFill>
                  <a:srgbClr val="FFFFFF"/>
                </a:solidFill>
                <a:latin typeface="Calibri"/>
              </a:rPr>
              <a:t>Finding 2 — Urgency Distribution</a:t>
            </a:r>
          </a:p>
        </p:txBody>
      </p:sp>
      <p:pic>
        <p:nvPicPr>
          <p:cNvPr id="5" name="Picture 4" descr="Screenshot_2026-05-28_at_19_55_09.png"/>
          <p:cNvPicPr>
            <a:picLocks noChangeAspect="1"/>
          </p:cNvPicPr>
          <p:nvPr/>
        </p:nvPicPr>
        <p:blipFill>
          <a:blip r:embed="rId3"/>
          <a:stretch>
            <a:fillRect/>
          </a:stretch>
        </p:blipFill>
        <p:spPr>
          <a:xfrm>
            <a:off x="274320" y="914400"/>
            <a:ext cx="6858000" cy="5029200"/>
          </a:xfrm>
          <a:prstGeom prst="rect">
            <a:avLst/>
          </a:prstGeom>
        </p:spPr>
      </p:pic>
      <p:sp>
        <p:nvSpPr>
          <p:cNvPr id="6" name="Rectangle 5"/>
          <p:cNvSpPr/>
          <p:nvPr/>
        </p:nvSpPr>
        <p:spPr>
          <a:xfrm>
            <a:off x="7406640" y="914400"/>
            <a:ext cx="4480560" cy="50292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0" y="1051560"/>
            <a:ext cx="4114800" cy="411480"/>
          </a:xfrm>
          <a:prstGeom prst="rect">
            <a:avLst/>
          </a:prstGeom>
          <a:noFill/>
        </p:spPr>
        <p:txBody>
          <a:bodyPr wrap="square">
            <a:spAutoFit/>
          </a:bodyPr>
          <a:lstStyle/>
          <a:p>
            <a:pPr algn="l"/>
            <a:r>
              <a:rPr sz="1600" b="1" i="0">
                <a:solidFill>
                  <a:srgbClr val="003087"/>
                </a:solidFill>
                <a:latin typeface="Calibri"/>
              </a:rPr>
              <a:t>Urgency Breakdown</a:t>
            </a:r>
          </a:p>
        </p:txBody>
      </p:sp>
      <p:sp>
        <p:nvSpPr>
          <p:cNvPr id="8" name="Rectangle 7"/>
          <p:cNvSpPr/>
          <p:nvPr/>
        </p:nvSpPr>
        <p:spPr>
          <a:xfrm>
            <a:off x="7498079" y="1600200"/>
            <a:ext cx="502920" cy="50292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1600200"/>
            <a:ext cx="502920" cy="502920"/>
          </a:xfrm>
          <a:prstGeom prst="rect">
            <a:avLst/>
          </a:prstGeom>
          <a:noFill/>
        </p:spPr>
        <p:txBody>
          <a:bodyPr wrap="square">
            <a:spAutoFit/>
          </a:bodyPr>
          <a:lstStyle/>
          <a:p>
            <a:pPr algn="ctr"/>
            <a:r>
              <a:rPr sz="1400" b="1" i="0">
                <a:solidFill>
                  <a:srgbClr val="FFFFFF"/>
                </a:solidFill>
                <a:latin typeface="Calibri"/>
              </a:rPr>
              <a:t>62%</a:t>
            </a:r>
          </a:p>
        </p:txBody>
      </p:sp>
      <p:sp>
        <p:nvSpPr>
          <p:cNvPr id="10" name="TextBox 9"/>
          <p:cNvSpPr txBox="1"/>
          <p:nvPr/>
        </p:nvSpPr>
        <p:spPr>
          <a:xfrm>
            <a:off x="8092440" y="1600200"/>
            <a:ext cx="1828800" cy="274320"/>
          </a:xfrm>
          <a:prstGeom prst="rect">
            <a:avLst/>
          </a:prstGeom>
          <a:noFill/>
        </p:spPr>
        <p:txBody>
          <a:bodyPr wrap="square">
            <a:spAutoFit/>
          </a:bodyPr>
          <a:lstStyle/>
          <a:p>
            <a:pPr algn="l"/>
            <a:r>
              <a:rPr sz="1200" b="1" i="0">
                <a:solidFill>
                  <a:srgbClr val="1A1A1A"/>
                </a:solidFill>
                <a:latin typeface="Calibri"/>
              </a:rPr>
              <a:t>Non-Urgent</a:t>
            </a:r>
          </a:p>
        </p:txBody>
      </p:sp>
      <p:sp>
        <p:nvSpPr>
          <p:cNvPr id="11" name="TextBox 10"/>
          <p:cNvSpPr txBox="1"/>
          <p:nvPr/>
        </p:nvSpPr>
        <p:spPr>
          <a:xfrm>
            <a:off x="9966960" y="1600200"/>
            <a:ext cx="1645920" cy="274320"/>
          </a:xfrm>
          <a:prstGeom prst="rect">
            <a:avLst/>
          </a:prstGeom>
          <a:noFill/>
        </p:spPr>
        <p:txBody>
          <a:bodyPr wrap="square">
            <a:spAutoFit/>
          </a:bodyPr>
          <a:lstStyle/>
          <a:p>
            <a:pPr algn="r"/>
            <a:r>
              <a:rPr sz="1200" b="1" i="0">
                <a:solidFill>
                  <a:srgbClr val="0072CE"/>
                </a:solidFill>
                <a:latin typeface="Calibri"/>
              </a:rPr>
              <a:t>62,146</a:t>
            </a:r>
          </a:p>
        </p:txBody>
      </p:sp>
      <p:sp>
        <p:nvSpPr>
          <p:cNvPr id="12" name="TextBox 11"/>
          <p:cNvSpPr txBox="1"/>
          <p:nvPr/>
        </p:nvSpPr>
        <p:spPr>
          <a:xfrm>
            <a:off x="8092440" y="1874519"/>
            <a:ext cx="3474720" cy="320040"/>
          </a:xfrm>
          <a:prstGeom prst="rect">
            <a:avLst/>
          </a:prstGeom>
          <a:noFill/>
        </p:spPr>
        <p:txBody>
          <a:bodyPr wrap="square">
            <a:spAutoFit/>
          </a:bodyPr>
          <a:lstStyle/>
          <a:p>
            <a:pPr algn="l"/>
            <a:r>
              <a:rPr sz="1000" b="0" i="0">
                <a:solidFill>
                  <a:srgbClr val="4A5568"/>
                </a:solidFill>
                <a:latin typeface="Calibri"/>
              </a:rPr>
              <a:t>Majority — manageable via routine appointments</a:t>
            </a:r>
          </a:p>
        </p:txBody>
      </p:sp>
      <p:sp>
        <p:nvSpPr>
          <p:cNvPr id="13" name="Rectangle 12"/>
          <p:cNvSpPr/>
          <p:nvPr/>
        </p:nvSpPr>
        <p:spPr>
          <a:xfrm>
            <a:off x="7498079" y="2651760"/>
            <a:ext cx="502920" cy="502920"/>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79" y="2651760"/>
            <a:ext cx="502920" cy="502920"/>
          </a:xfrm>
          <a:prstGeom prst="rect">
            <a:avLst/>
          </a:prstGeom>
          <a:noFill/>
        </p:spPr>
        <p:txBody>
          <a:bodyPr wrap="square">
            <a:spAutoFit/>
          </a:bodyPr>
          <a:lstStyle/>
          <a:p>
            <a:pPr algn="ctr"/>
            <a:r>
              <a:rPr sz="1400" b="1" i="0">
                <a:solidFill>
                  <a:srgbClr val="FFFFFF"/>
                </a:solidFill>
                <a:latin typeface="Calibri"/>
              </a:rPr>
              <a:t>18%</a:t>
            </a:r>
          </a:p>
        </p:txBody>
      </p:sp>
      <p:sp>
        <p:nvSpPr>
          <p:cNvPr id="15" name="TextBox 14"/>
          <p:cNvSpPr txBox="1"/>
          <p:nvPr/>
        </p:nvSpPr>
        <p:spPr>
          <a:xfrm>
            <a:off x="8092440" y="2651760"/>
            <a:ext cx="1828800" cy="274320"/>
          </a:xfrm>
          <a:prstGeom prst="rect">
            <a:avLst/>
          </a:prstGeom>
          <a:noFill/>
        </p:spPr>
        <p:txBody>
          <a:bodyPr wrap="square">
            <a:spAutoFit/>
          </a:bodyPr>
          <a:lstStyle/>
          <a:p>
            <a:pPr algn="l"/>
            <a:r>
              <a:rPr sz="1200" b="1" i="0">
                <a:solidFill>
                  <a:srgbClr val="1A1A1A"/>
                </a:solidFill>
                <a:latin typeface="Calibri"/>
              </a:rPr>
              <a:t>Urgent</a:t>
            </a:r>
          </a:p>
        </p:txBody>
      </p:sp>
      <p:sp>
        <p:nvSpPr>
          <p:cNvPr id="16" name="TextBox 15"/>
          <p:cNvSpPr txBox="1"/>
          <p:nvPr/>
        </p:nvSpPr>
        <p:spPr>
          <a:xfrm>
            <a:off x="9966960" y="2651760"/>
            <a:ext cx="1645920" cy="274320"/>
          </a:xfrm>
          <a:prstGeom prst="rect">
            <a:avLst/>
          </a:prstGeom>
          <a:noFill/>
        </p:spPr>
        <p:txBody>
          <a:bodyPr wrap="square">
            <a:spAutoFit/>
          </a:bodyPr>
          <a:lstStyle/>
          <a:p>
            <a:pPr algn="r"/>
            <a:r>
              <a:rPr sz="1200" b="1" i="0">
                <a:solidFill>
                  <a:srgbClr val="E8A838"/>
                </a:solidFill>
                <a:latin typeface="Calibri"/>
              </a:rPr>
              <a:t>17,818</a:t>
            </a:r>
          </a:p>
        </p:txBody>
      </p:sp>
      <p:sp>
        <p:nvSpPr>
          <p:cNvPr id="17" name="TextBox 16"/>
          <p:cNvSpPr txBox="1"/>
          <p:nvPr/>
        </p:nvSpPr>
        <p:spPr>
          <a:xfrm>
            <a:off x="8092440" y="2926079"/>
            <a:ext cx="3474720" cy="320040"/>
          </a:xfrm>
          <a:prstGeom prst="rect">
            <a:avLst/>
          </a:prstGeom>
          <a:noFill/>
        </p:spPr>
        <p:txBody>
          <a:bodyPr wrap="square">
            <a:spAutoFit/>
          </a:bodyPr>
          <a:lstStyle/>
          <a:p>
            <a:pPr algn="l"/>
            <a:r>
              <a:rPr sz="1000" b="0" i="0">
                <a:solidFill>
                  <a:srgbClr val="4A5568"/>
                </a:solidFill>
                <a:latin typeface="Calibri"/>
              </a:rPr>
              <a:t>Needs priority access within days</a:t>
            </a:r>
          </a:p>
        </p:txBody>
      </p:sp>
      <p:sp>
        <p:nvSpPr>
          <p:cNvPr id="18" name="Rectangle 17"/>
          <p:cNvSpPr/>
          <p:nvPr/>
        </p:nvSpPr>
        <p:spPr>
          <a:xfrm>
            <a:off x="7498079" y="3703320"/>
            <a:ext cx="50292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79" y="3703320"/>
            <a:ext cx="502920" cy="502920"/>
          </a:xfrm>
          <a:prstGeom prst="rect">
            <a:avLst/>
          </a:prstGeom>
          <a:noFill/>
        </p:spPr>
        <p:txBody>
          <a:bodyPr wrap="square">
            <a:spAutoFit/>
          </a:bodyPr>
          <a:lstStyle/>
          <a:p>
            <a:pPr algn="ctr"/>
            <a:r>
              <a:rPr sz="1400" b="1" i="0">
                <a:solidFill>
                  <a:srgbClr val="FFFFFF"/>
                </a:solidFill>
                <a:latin typeface="Calibri"/>
              </a:rPr>
              <a:t>12%</a:t>
            </a:r>
          </a:p>
        </p:txBody>
      </p:sp>
      <p:sp>
        <p:nvSpPr>
          <p:cNvPr id="20" name="TextBox 19"/>
          <p:cNvSpPr txBox="1"/>
          <p:nvPr/>
        </p:nvSpPr>
        <p:spPr>
          <a:xfrm>
            <a:off x="8092440" y="3703320"/>
            <a:ext cx="1828800" cy="274320"/>
          </a:xfrm>
          <a:prstGeom prst="rect">
            <a:avLst/>
          </a:prstGeom>
          <a:noFill/>
        </p:spPr>
        <p:txBody>
          <a:bodyPr wrap="square">
            <a:spAutoFit/>
          </a:bodyPr>
          <a:lstStyle/>
          <a:p>
            <a:pPr algn="l"/>
            <a:r>
              <a:rPr sz="1200" b="1" i="0">
                <a:solidFill>
                  <a:srgbClr val="1A1A1A"/>
                </a:solidFill>
                <a:latin typeface="Calibri"/>
              </a:rPr>
              <a:t>Emergency</a:t>
            </a:r>
          </a:p>
        </p:txBody>
      </p:sp>
      <p:sp>
        <p:nvSpPr>
          <p:cNvPr id="21" name="TextBox 20"/>
          <p:cNvSpPr txBox="1"/>
          <p:nvPr/>
        </p:nvSpPr>
        <p:spPr>
          <a:xfrm>
            <a:off x="9966960" y="3703320"/>
            <a:ext cx="1645920" cy="274320"/>
          </a:xfrm>
          <a:prstGeom prst="rect">
            <a:avLst/>
          </a:prstGeom>
          <a:noFill/>
        </p:spPr>
        <p:txBody>
          <a:bodyPr wrap="square">
            <a:spAutoFit/>
          </a:bodyPr>
          <a:lstStyle/>
          <a:p>
            <a:pPr algn="r"/>
            <a:r>
              <a:rPr sz="1200" b="1" i="0">
                <a:solidFill>
                  <a:srgbClr val="C0392B"/>
                </a:solidFill>
                <a:latin typeface="Calibri"/>
              </a:rPr>
              <a:t>11,811</a:t>
            </a:r>
          </a:p>
        </p:txBody>
      </p:sp>
      <p:sp>
        <p:nvSpPr>
          <p:cNvPr id="22" name="TextBox 21"/>
          <p:cNvSpPr txBox="1"/>
          <p:nvPr/>
        </p:nvSpPr>
        <p:spPr>
          <a:xfrm>
            <a:off x="8092440" y="3977639"/>
            <a:ext cx="3474720" cy="320040"/>
          </a:xfrm>
          <a:prstGeom prst="rect">
            <a:avLst/>
          </a:prstGeom>
          <a:noFill/>
        </p:spPr>
        <p:txBody>
          <a:bodyPr wrap="square">
            <a:spAutoFit/>
          </a:bodyPr>
          <a:lstStyle/>
          <a:p>
            <a:pPr algn="l"/>
            <a:r>
              <a:rPr sz="1000" b="0" i="0">
                <a:solidFill>
                  <a:srgbClr val="4A5568"/>
                </a:solidFill>
                <a:latin typeface="Calibri"/>
              </a:rPr>
              <a:t>Requires immediate crisis intervention</a:t>
            </a:r>
          </a:p>
        </p:txBody>
      </p:sp>
      <p:sp>
        <p:nvSpPr>
          <p:cNvPr id="23" name="Rectangle 22"/>
          <p:cNvSpPr/>
          <p:nvPr/>
        </p:nvSpPr>
        <p:spPr>
          <a:xfrm>
            <a:off x="7498079" y="4754879"/>
            <a:ext cx="502920" cy="502920"/>
          </a:xfrm>
          <a:prstGeom prst="rect">
            <a:avLst/>
          </a:prstGeom>
          <a:solidFill>
            <a:srgbClr val="00A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79" y="4754879"/>
            <a:ext cx="502920" cy="502920"/>
          </a:xfrm>
          <a:prstGeom prst="rect">
            <a:avLst/>
          </a:prstGeom>
          <a:noFill/>
        </p:spPr>
        <p:txBody>
          <a:bodyPr wrap="square">
            <a:spAutoFit/>
          </a:bodyPr>
          <a:lstStyle/>
          <a:p>
            <a:pPr algn="ctr"/>
            <a:r>
              <a:rPr sz="1400" b="1" i="0">
                <a:solidFill>
                  <a:srgbClr val="FFFFFF"/>
                </a:solidFill>
                <a:latin typeface="Calibri"/>
              </a:rPr>
              <a:t>8%</a:t>
            </a:r>
          </a:p>
        </p:txBody>
      </p:sp>
      <p:sp>
        <p:nvSpPr>
          <p:cNvPr id="25" name="TextBox 24"/>
          <p:cNvSpPr txBox="1"/>
          <p:nvPr/>
        </p:nvSpPr>
        <p:spPr>
          <a:xfrm>
            <a:off x="8092440" y="4754879"/>
            <a:ext cx="1828800" cy="274320"/>
          </a:xfrm>
          <a:prstGeom prst="rect">
            <a:avLst/>
          </a:prstGeom>
          <a:noFill/>
        </p:spPr>
        <p:txBody>
          <a:bodyPr wrap="square">
            <a:spAutoFit/>
          </a:bodyPr>
          <a:lstStyle/>
          <a:p>
            <a:pPr algn="l"/>
            <a:r>
              <a:rPr sz="1200" b="1" i="0">
                <a:solidFill>
                  <a:srgbClr val="1A1A1A"/>
                </a:solidFill>
                <a:latin typeface="Calibri"/>
              </a:rPr>
              <a:t>Routine</a:t>
            </a:r>
          </a:p>
        </p:txBody>
      </p:sp>
      <p:sp>
        <p:nvSpPr>
          <p:cNvPr id="26" name="TextBox 25"/>
          <p:cNvSpPr txBox="1"/>
          <p:nvPr/>
        </p:nvSpPr>
        <p:spPr>
          <a:xfrm>
            <a:off x="9966960" y="4754879"/>
            <a:ext cx="1645920" cy="274320"/>
          </a:xfrm>
          <a:prstGeom prst="rect">
            <a:avLst/>
          </a:prstGeom>
          <a:noFill/>
        </p:spPr>
        <p:txBody>
          <a:bodyPr wrap="square">
            <a:spAutoFit/>
          </a:bodyPr>
          <a:lstStyle/>
          <a:p>
            <a:pPr algn="r"/>
            <a:r>
              <a:rPr sz="1200" b="1" i="0">
                <a:solidFill>
                  <a:srgbClr val="00A499"/>
                </a:solidFill>
                <a:latin typeface="Calibri"/>
              </a:rPr>
              <a:t>8,197</a:t>
            </a:r>
          </a:p>
        </p:txBody>
      </p:sp>
      <p:sp>
        <p:nvSpPr>
          <p:cNvPr id="27" name="TextBox 26"/>
          <p:cNvSpPr txBox="1"/>
          <p:nvPr/>
        </p:nvSpPr>
        <p:spPr>
          <a:xfrm>
            <a:off x="8092440" y="5029199"/>
            <a:ext cx="3474720" cy="320040"/>
          </a:xfrm>
          <a:prstGeom prst="rect">
            <a:avLst/>
          </a:prstGeom>
          <a:noFill/>
        </p:spPr>
        <p:txBody>
          <a:bodyPr wrap="square">
            <a:spAutoFit/>
          </a:bodyPr>
          <a:lstStyle/>
          <a:p>
            <a:pPr algn="l"/>
            <a:r>
              <a:rPr sz="1000" b="0" i="0">
                <a:solidFill>
                  <a:srgbClr val="4A5568"/>
                </a:solidFill>
                <a:latin typeface="Calibri"/>
              </a:rPr>
              <a:t>Planned, lower-priority referrals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772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
            <a:ext cx="10972800" cy="548640"/>
          </a:xfrm>
          <a:prstGeom prst="rect">
            <a:avLst/>
          </a:prstGeom>
          <a:noFill/>
        </p:spPr>
        <p:txBody>
          <a:bodyPr wrap="square">
            <a:spAutoFit/>
          </a:bodyPr>
          <a:lstStyle/>
          <a:p>
            <a:pPr algn="l"/>
            <a:r>
              <a:rPr sz="2400" b="1" i="0">
                <a:solidFill>
                  <a:srgbClr val="FFFFFF"/>
                </a:solidFill>
                <a:latin typeface="Calibri"/>
              </a:rPr>
              <a:t>Finding 3 — Where Referrals Come From</a:t>
            </a:r>
          </a:p>
        </p:txBody>
      </p:sp>
      <p:pic>
        <p:nvPicPr>
          <p:cNvPr id="5" name="Picture 4" descr="Screenshot_2026-05-28_at_19_55_09.png"/>
          <p:cNvPicPr>
            <a:picLocks noChangeAspect="1"/>
          </p:cNvPicPr>
          <p:nvPr/>
        </p:nvPicPr>
        <p:blipFill>
          <a:blip r:embed="rId3"/>
          <a:stretch>
            <a:fillRect/>
          </a:stretch>
        </p:blipFill>
        <p:spPr>
          <a:xfrm>
            <a:off x="274320" y="914400"/>
            <a:ext cx="6858000" cy="5029200"/>
          </a:xfrm>
          <a:prstGeom prst="rect">
            <a:avLst/>
          </a:prstGeom>
        </p:spPr>
      </p:pic>
      <p:sp>
        <p:nvSpPr>
          <p:cNvPr id="6" name="Rectangle 5"/>
          <p:cNvSpPr/>
          <p:nvPr/>
        </p:nvSpPr>
        <p:spPr>
          <a:xfrm>
            <a:off x="7406640" y="914400"/>
            <a:ext cx="4480560" cy="50292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0" y="1051560"/>
            <a:ext cx="4114800" cy="411480"/>
          </a:xfrm>
          <a:prstGeom prst="rect">
            <a:avLst/>
          </a:prstGeom>
          <a:noFill/>
        </p:spPr>
        <p:txBody>
          <a:bodyPr wrap="square">
            <a:spAutoFit/>
          </a:bodyPr>
          <a:lstStyle/>
          <a:p>
            <a:pPr algn="l"/>
            <a:r>
              <a:rPr sz="1600" b="1" i="0">
                <a:solidFill>
                  <a:srgbClr val="003087"/>
                </a:solidFill>
                <a:latin typeface="Calibri"/>
              </a:rPr>
              <a:t>Top Sources</a:t>
            </a:r>
          </a:p>
        </p:txBody>
      </p:sp>
      <p:sp>
        <p:nvSpPr>
          <p:cNvPr id="8" name="Rectangle 7"/>
          <p:cNvSpPr/>
          <p:nvPr/>
        </p:nvSpPr>
        <p:spPr>
          <a:xfrm>
            <a:off x="7498079" y="1600200"/>
            <a:ext cx="42976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498079" y="1600200"/>
            <a:ext cx="54864" cy="868680"/>
          </a:xfrm>
          <a:prstGeom prst="rect">
            <a:avLst/>
          </a:prstGeom>
          <a:solidFill>
            <a:srgbClr val="00A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35240" y="1645920"/>
            <a:ext cx="2286000" cy="320040"/>
          </a:xfrm>
          <a:prstGeom prst="rect">
            <a:avLst/>
          </a:prstGeom>
          <a:noFill/>
        </p:spPr>
        <p:txBody>
          <a:bodyPr wrap="square">
            <a:spAutoFit/>
          </a:bodyPr>
          <a:lstStyle/>
          <a:p>
            <a:pPr algn="l"/>
            <a:r>
              <a:rPr sz="1300" b="1" i="0">
                <a:solidFill>
                  <a:srgbClr val="003087"/>
                </a:solidFill>
                <a:latin typeface="Calibri"/>
              </a:rPr>
              <a:t>GPs</a:t>
            </a:r>
          </a:p>
        </p:txBody>
      </p:sp>
      <p:sp>
        <p:nvSpPr>
          <p:cNvPr id="11" name="TextBox 10"/>
          <p:cNvSpPr txBox="1"/>
          <p:nvPr/>
        </p:nvSpPr>
        <p:spPr>
          <a:xfrm>
            <a:off x="9966960" y="1645920"/>
            <a:ext cx="1645920" cy="320040"/>
          </a:xfrm>
          <a:prstGeom prst="rect">
            <a:avLst/>
          </a:prstGeom>
          <a:noFill/>
        </p:spPr>
        <p:txBody>
          <a:bodyPr wrap="square">
            <a:spAutoFit/>
          </a:bodyPr>
          <a:lstStyle/>
          <a:p>
            <a:pPr algn="r"/>
            <a:r>
              <a:rPr sz="1300" b="1" i="0">
                <a:solidFill>
                  <a:srgbClr val="00A499"/>
                </a:solidFill>
                <a:latin typeface="Calibri"/>
              </a:rPr>
              <a:t>38,695</a:t>
            </a:r>
          </a:p>
        </p:txBody>
      </p:sp>
      <p:sp>
        <p:nvSpPr>
          <p:cNvPr id="12" name="TextBox 11"/>
          <p:cNvSpPr txBox="1"/>
          <p:nvPr/>
        </p:nvSpPr>
        <p:spPr>
          <a:xfrm>
            <a:off x="7635240" y="1984248"/>
            <a:ext cx="4023360" cy="411480"/>
          </a:xfrm>
          <a:prstGeom prst="rect">
            <a:avLst/>
          </a:prstGeom>
          <a:noFill/>
        </p:spPr>
        <p:txBody>
          <a:bodyPr wrap="square">
            <a:spAutoFit/>
          </a:bodyPr>
          <a:lstStyle/>
          <a:p>
            <a:pPr algn="l"/>
            <a:r>
              <a:rPr sz="1000" b="0" i="0">
                <a:solidFill>
                  <a:srgbClr val="4A5568"/>
                </a:solidFill>
                <a:latin typeface="Calibri"/>
              </a:rPr>
              <a:t>38% of all referrals — primary care is the main gateway to mental health services</a:t>
            </a:r>
          </a:p>
        </p:txBody>
      </p:sp>
      <p:sp>
        <p:nvSpPr>
          <p:cNvPr id="13" name="Rectangle 12"/>
          <p:cNvSpPr/>
          <p:nvPr/>
        </p:nvSpPr>
        <p:spPr>
          <a:xfrm>
            <a:off x="7498079" y="2651760"/>
            <a:ext cx="42976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98079" y="2651760"/>
            <a:ext cx="54864" cy="86868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35240" y="2697479"/>
            <a:ext cx="2286000" cy="320040"/>
          </a:xfrm>
          <a:prstGeom prst="rect">
            <a:avLst/>
          </a:prstGeom>
          <a:noFill/>
        </p:spPr>
        <p:txBody>
          <a:bodyPr wrap="square">
            <a:spAutoFit/>
          </a:bodyPr>
          <a:lstStyle/>
          <a:p>
            <a:pPr algn="l"/>
            <a:r>
              <a:rPr sz="1300" b="1" i="0">
                <a:solidFill>
                  <a:srgbClr val="003087"/>
                </a:solidFill>
                <a:latin typeface="Calibri"/>
              </a:rPr>
              <a:t>A&amp;E Depts</a:t>
            </a:r>
          </a:p>
        </p:txBody>
      </p:sp>
      <p:sp>
        <p:nvSpPr>
          <p:cNvPr id="16" name="TextBox 15"/>
          <p:cNvSpPr txBox="1"/>
          <p:nvPr/>
        </p:nvSpPr>
        <p:spPr>
          <a:xfrm>
            <a:off x="9966960" y="2697479"/>
            <a:ext cx="1645920" cy="320040"/>
          </a:xfrm>
          <a:prstGeom prst="rect">
            <a:avLst/>
          </a:prstGeom>
          <a:noFill/>
        </p:spPr>
        <p:txBody>
          <a:bodyPr wrap="square">
            <a:spAutoFit/>
          </a:bodyPr>
          <a:lstStyle/>
          <a:p>
            <a:pPr algn="r"/>
            <a:r>
              <a:rPr sz="1300" b="1" i="0">
                <a:solidFill>
                  <a:srgbClr val="00A499"/>
                </a:solidFill>
                <a:latin typeface="Calibri"/>
              </a:rPr>
              <a:t>8,733</a:t>
            </a:r>
          </a:p>
        </p:txBody>
      </p:sp>
      <p:sp>
        <p:nvSpPr>
          <p:cNvPr id="17" name="TextBox 16"/>
          <p:cNvSpPr txBox="1"/>
          <p:nvPr/>
        </p:nvSpPr>
        <p:spPr>
          <a:xfrm>
            <a:off x="7635240" y="3035808"/>
            <a:ext cx="4023360" cy="411480"/>
          </a:xfrm>
          <a:prstGeom prst="rect">
            <a:avLst/>
          </a:prstGeom>
          <a:noFill/>
        </p:spPr>
        <p:txBody>
          <a:bodyPr wrap="square">
            <a:spAutoFit/>
          </a:bodyPr>
          <a:lstStyle/>
          <a:p>
            <a:pPr algn="l"/>
            <a:r>
              <a:rPr sz="1000" b="0" i="0">
                <a:solidFill>
                  <a:srgbClr val="4A5568"/>
                </a:solidFill>
                <a:latin typeface="Calibri"/>
              </a:rPr>
              <a:t>9% — patients reaching crisis before getting community support</a:t>
            </a:r>
          </a:p>
        </p:txBody>
      </p:sp>
      <p:sp>
        <p:nvSpPr>
          <p:cNvPr id="18" name="Rectangle 17"/>
          <p:cNvSpPr/>
          <p:nvPr/>
        </p:nvSpPr>
        <p:spPr>
          <a:xfrm>
            <a:off x="7498079" y="3703320"/>
            <a:ext cx="42976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98079" y="3703320"/>
            <a:ext cx="54864" cy="86868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35240" y="3749039"/>
            <a:ext cx="2286000" cy="320040"/>
          </a:xfrm>
          <a:prstGeom prst="rect">
            <a:avLst/>
          </a:prstGeom>
          <a:noFill/>
        </p:spPr>
        <p:txBody>
          <a:bodyPr wrap="square">
            <a:spAutoFit/>
          </a:bodyPr>
          <a:lstStyle/>
          <a:p>
            <a:pPr algn="l"/>
            <a:r>
              <a:rPr sz="1300" b="1" i="0">
                <a:solidFill>
                  <a:srgbClr val="003087"/>
                </a:solidFill>
                <a:latin typeface="Calibri"/>
              </a:rPr>
              <a:t>Internal CMHT</a:t>
            </a:r>
          </a:p>
        </p:txBody>
      </p:sp>
      <p:sp>
        <p:nvSpPr>
          <p:cNvPr id="21" name="TextBox 20"/>
          <p:cNvSpPr txBox="1"/>
          <p:nvPr/>
        </p:nvSpPr>
        <p:spPr>
          <a:xfrm>
            <a:off x="9966960" y="3749039"/>
            <a:ext cx="1645920" cy="320040"/>
          </a:xfrm>
          <a:prstGeom prst="rect">
            <a:avLst/>
          </a:prstGeom>
          <a:noFill/>
        </p:spPr>
        <p:txBody>
          <a:bodyPr wrap="square">
            <a:spAutoFit/>
          </a:bodyPr>
          <a:lstStyle/>
          <a:p>
            <a:pPr algn="r"/>
            <a:r>
              <a:rPr sz="1300" b="1" i="0">
                <a:solidFill>
                  <a:srgbClr val="00A499"/>
                </a:solidFill>
                <a:latin typeface="Calibri"/>
              </a:rPr>
              <a:t>6,372</a:t>
            </a:r>
          </a:p>
        </p:txBody>
      </p:sp>
      <p:sp>
        <p:nvSpPr>
          <p:cNvPr id="22" name="TextBox 21"/>
          <p:cNvSpPr txBox="1"/>
          <p:nvPr/>
        </p:nvSpPr>
        <p:spPr>
          <a:xfrm>
            <a:off x="7635240" y="4087368"/>
            <a:ext cx="4023360" cy="411480"/>
          </a:xfrm>
          <a:prstGeom prst="rect">
            <a:avLst/>
          </a:prstGeom>
          <a:noFill/>
        </p:spPr>
        <p:txBody>
          <a:bodyPr wrap="square">
            <a:spAutoFit/>
          </a:bodyPr>
          <a:lstStyle/>
          <a:p>
            <a:pPr algn="l"/>
            <a:r>
              <a:rPr sz="1000" b="0" i="0">
                <a:solidFill>
                  <a:srgbClr val="4A5568"/>
                </a:solidFill>
                <a:latin typeface="Calibri"/>
              </a:rPr>
              <a:t>6% — joined-up working between mental health teams</a:t>
            </a:r>
          </a:p>
        </p:txBody>
      </p:sp>
      <p:sp>
        <p:nvSpPr>
          <p:cNvPr id="23" name="Rectangle 22"/>
          <p:cNvSpPr/>
          <p:nvPr/>
        </p:nvSpPr>
        <p:spPr>
          <a:xfrm>
            <a:off x="7498079" y="4754879"/>
            <a:ext cx="42976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498079" y="4754879"/>
            <a:ext cx="54864" cy="86868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35240" y="4800599"/>
            <a:ext cx="2286000" cy="320040"/>
          </a:xfrm>
          <a:prstGeom prst="rect">
            <a:avLst/>
          </a:prstGeom>
          <a:noFill/>
        </p:spPr>
        <p:txBody>
          <a:bodyPr wrap="square">
            <a:spAutoFit/>
          </a:bodyPr>
          <a:lstStyle/>
          <a:p>
            <a:pPr algn="l"/>
            <a:r>
              <a:rPr sz="1300" b="1" i="0">
                <a:solidFill>
                  <a:srgbClr val="003087"/>
                </a:solidFill>
                <a:latin typeface="Calibri"/>
              </a:rPr>
              <a:t>Community MHT</a:t>
            </a:r>
          </a:p>
        </p:txBody>
      </p:sp>
      <p:sp>
        <p:nvSpPr>
          <p:cNvPr id="26" name="TextBox 25"/>
          <p:cNvSpPr txBox="1"/>
          <p:nvPr/>
        </p:nvSpPr>
        <p:spPr>
          <a:xfrm>
            <a:off x="9966960" y="4800599"/>
            <a:ext cx="1645920" cy="320040"/>
          </a:xfrm>
          <a:prstGeom prst="rect">
            <a:avLst/>
          </a:prstGeom>
          <a:noFill/>
        </p:spPr>
        <p:txBody>
          <a:bodyPr wrap="square">
            <a:spAutoFit/>
          </a:bodyPr>
          <a:lstStyle/>
          <a:p>
            <a:pPr algn="r"/>
            <a:r>
              <a:rPr sz="1300" b="1" i="0">
                <a:solidFill>
                  <a:srgbClr val="00A499"/>
                </a:solidFill>
                <a:latin typeface="Calibri"/>
              </a:rPr>
              <a:t>5,376</a:t>
            </a:r>
          </a:p>
        </p:txBody>
      </p:sp>
      <p:sp>
        <p:nvSpPr>
          <p:cNvPr id="27" name="TextBox 26"/>
          <p:cNvSpPr txBox="1"/>
          <p:nvPr/>
        </p:nvSpPr>
        <p:spPr>
          <a:xfrm>
            <a:off x="7635240" y="5138927"/>
            <a:ext cx="4023360" cy="411480"/>
          </a:xfrm>
          <a:prstGeom prst="rect">
            <a:avLst/>
          </a:prstGeom>
          <a:noFill/>
        </p:spPr>
        <p:txBody>
          <a:bodyPr wrap="square">
            <a:spAutoFit/>
          </a:bodyPr>
          <a:lstStyle/>
          <a:p>
            <a:pPr algn="l"/>
            <a:r>
              <a:rPr sz="1000" b="0" i="0">
                <a:solidFill>
                  <a:srgbClr val="4A5568"/>
                </a:solidFill>
                <a:latin typeface="Calibri"/>
              </a:rPr>
              <a:t>5% — referrals from community mental health teams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772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
            <a:ext cx="10972800" cy="548640"/>
          </a:xfrm>
          <a:prstGeom prst="rect">
            <a:avLst/>
          </a:prstGeom>
          <a:noFill/>
        </p:spPr>
        <p:txBody>
          <a:bodyPr wrap="square">
            <a:spAutoFit/>
          </a:bodyPr>
          <a:lstStyle/>
          <a:p>
            <a:pPr algn="l"/>
            <a:r>
              <a:rPr sz="2400" b="1" i="0">
                <a:solidFill>
                  <a:srgbClr val="FFFFFF"/>
                </a:solidFill>
                <a:latin typeface="Calibri"/>
              </a:rPr>
              <a:t>Finding 4 — Monthly Referral Trends</a:t>
            </a:r>
          </a:p>
        </p:txBody>
      </p:sp>
      <p:pic>
        <p:nvPicPr>
          <p:cNvPr id="5" name="Picture 4" descr="Screenshot_2026-05-28_at_19_55_09.png"/>
          <p:cNvPicPr>
            <a:picLocks noChangeAspect="1"/>
          </p:cNvPicPr>
          <p:nvPr/>
        </p:nvPicPr>
        <p:blipFill>
          <a:blip r:embed="rId3"/>
          <a:stretch>
            <a:fillRect/>
          </a:stretch>
        </p:blipFill>
        <p:spPr>
          <a:xfrm>
            <a:off x="274320" y="914400"/>
            <a:ext cx="7772400" cy="5029200"/>
          </a:xfrm>
          <a:prstGeom prst="rect">
            <a:avLst/>
          </a:prstGeom>
        </p:spPr>
      </p:pic>
      <p:sp>
        <p:nvSpPr>
          <p:cNvPr id="6" name="Rectangle 5"/>
          <p:cNvSpPr/>
          <p:nvPr/>
        </p:nvSpPr>
        <p:spPr>
          <a:xfrm>
            <a:off x="8229600" y="914400"/>
            <a:ext cx="3657600" cy="50292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0" y="1051560"/>
            <a:ext cx="3291840" cy="411480"/>
          </a:xfrm>
          <a:prstGeom prst="rect">
            <a:avLst/>
          </a:prstGeom>
          <a:noFill/>
        </p:spPr>
        <p:txBody>
          <a:bodyPr wrap="square">
            <a:spAutoFit/>
          </a:bodyPr>
          <a:lstStyle/>
          <a:p>
            <a:pPr algn="l"/>
            <a:r>
              <a:rPr sz="1600" b="1" i="0">
                <a:solidFill>
                  <a:srgbClr val="003087"/>
                </a:solidFill>
                <a:latin typeface="Calibri"/>
              </a:rPr>
              <a:t>Trend Analysis</a:t>
            </a:r>
          </a:p>
        </p:txBody>
      </p:sp>
      <p:sp>
        <p:nvSpPr>
          <p:cNvPr id="8" name="TextBox 7"/>
          <p:cNvSpPr txBox="1"/>
          <p:nvPr/>
        </p:nvSpPr>
        <p:spPr>
          <a:xfrm>
            <a:off x="8412480" y="1600200"/>
            <a:ext cx="3291840" cy="320040"/>
          </a:xfrm>
          <a:prstGeom prst="rect">
            <a:avLst/>
          </a:prstGeom>
          <a:noFill/>
        </p:spPr>
        <p:txBody>
          <a:bodyPr wrap="square">
            <a:spAutoFit/>
          </a:bodyPr>
          <a:lstStyle/>
          <a:p>
            <a:pPr algn="l"/>
            <a:r>
              <a:rPr sz="1200" b="1" i="0">
                <a:solidFill>
                  <a:srgbClr val="00A499"/>
                </a:solidFill>
                <a:latin typeface="Calibri"/>
              </a:rPr>
              <a:t>› Mid-year peaks</a:t>
            </a:r>
          </a:p>
        </p:txBody>
      </p:sp>
      <p:sp>
        <p:nvSpPr>
          <p:cNvPr id="9" name="TextBox 8"/>
          <p:cNvSpPr txBox="1"/>
          <p:nvPr/>
        </p:nvSpPr>
        <p:spPr>
          <a:xfrm>
            <a:off x="8412480" y="1920240"/>
            <a:ext cx="3291840" cy="594360"/>
          </a:xfrm>
          <a:prstGeom prst="rect">
            <a:avLst/>
          </a:prstGeom>
          <a:noFill/>
        </p:spPr>
        <p:txBody>
          <a:bodyPr wrap="square">
            <a:spAutoFit/>
          </a:bodyPr>
          <a:lstStyle/>
          <a:p>
            <a:pPr algn="l"/>
            <a:r>
              <a:rPr sz="1000" b="0" i="0">
                <a:solidFill>
                  <a:srgbClr val="1A1A1A"/>
                </a:solidFill>
                <a:latin typeface="Calibri"/>
              </a:rPr>
              <a:t>Most boroughs see referral increases around July–August, possibly reflecting service pressures after summer.</a:t>
            </a:r>
          </a:p>
        </p:txBody>
      </p:sp>
      <p:sp>
        <p:nvSpPr>
          <p:cNvPr id="10" name="TextBox 9"/>
          <p:cNvSpPr txBox="1"/>
          <p:nvPr/>
        </p:nvSpPr>
        <p:spPr>
          <a:xfrm>
            <a:off x="8412480" y="2651760"/>
            <a:ext cx="3291840" cy="320040"/>
          </a:xfrm>
          <a:prstGeom prst="rect">
            <a:avLst/>
          </a:prstGeom>
          <a:noFill/>
        </p:spPr>
        <p:txBody>
          <a:bodyPr wrap="square">
            <a:spAutoFit/>
          </a:bodyPr>
          <a:lstStyle/>
          <a:p>
            <a:pPr algn="l"/>
            <a:r>
              <a:rPr sz="1200" b="1" i="0">
                <a:solidFill>
                  <a:srgbClr val="00A499"/>
                </a:solidFill>
                <a:latin typeface="Calibri"/>
              </a:rPr>
              <a:t>› August dips</a:t>
            </a:r>
          </a:p>
        </p:txBody>
      </p:sp>
      <p:sp>
        <p:nvSpPr>
          <p:cNvPr id="11" name="TextBox 10"/>
          <p:cNvSpPr txBox="1"/>
          <p:nvPr/>
        </p:nvSpPr>
        <p:spPr>
          <a:xfrm>
            <a:off x="8412480" y="2971800"/>
            <a:ext cx="3291840" cy="594360"/>
          </a:xfrm>
          <a:prstGeom prst="rect">
            <a:avLst/>
          </a:prstGeom>
          <a:noFill/>
        </p:spPr>
        <p:txBody>
          <a:bodyPr wrap="square">
            <a:spAutoFit/>
          </a:bodyPr>
          <a:lstStyle/>
          <a:p>
            <a:pPr algn="l"/>
            <a:r>
              <a:rPr sz="1000" b="0" i="0">
                <a:solidFill>
                  <a:srgbClr val="1A1A1A"/>
                </a:solidFill>
                <a:latin typeface="Calibri"/>
              </a:rPr>
              <a:t>Several boroughs show a sharp drop in August — likely due to staff annual leave reducing capacity.</a:t>
            </a:r>
          </a:p>
        </p:txBody>
      </p:sp>
      <p:sp>
        <p:nvSpPr>
          <p:cNvPr id="12" name="TextBox 11"/>
          <p:cNvSpPr txBox="1"/>
          <p:nvPr/>
        </p:nvSpPr>
        <p:spPr>
          <a:xfrm>
            <a:off x="8412480" y="3703320"/>
            <a:ext cx="3291840" cy="320040"/>
          </a:xfrm>
          <a:prstGeom prst="rect">
            <a:avLst/>
          </a:prstGeom>
          <a:noFill/>
        </p:spPr>
        <p:txBody>
          <a:bodyPr wrap="square">
            <a:spAutoFit/>
          </a:bodyPr>
          <a:lstStyle/>
          <a:p>
            <a:pPr algn="l"/>
            <a:r>
              <a:rPr sz="1200" b="1" i="0">
                <a:solidFill>
                  <a:srgbClr val="00A499"/>
                </a:solidFill>
                <a:latin typeface="Calibri"/>
              </a:rPr>
              <a:t>› Seasonal patterns</a:t>
            </a:r>
          </a:p>
        </p:txBody>
      </p:sp>
      <p:sp>
        <p:nvSpPr>
          <p:cNvPr id="13" name="TextBox 12"/>
          <p:cNvSpPr txBox="1"/>
          <p:nvPr/>
        </p:nvSpPr>
        <p:spPr>
          <a:xfrm>
            <a:off x="8412480" y="4023359"/>
            <a:ext cx="3291840" cy="594360"/>
          </a:xfrm>
          <a:prstGeom prst="rect">
            <a:avLst/>
          </a:prstGeom>
          <a:noFill/>
        </p:spPr>
        <p:txBody>
          <a:bodyPr wrap="square">
            <a:spAutoFit/>
          </a:bodyPr>
          <a:lstStyle/>
          <a:p>
            <a:pPr algn="l"/>
            <a:r>
              <a:rPr sz="1000" b="0" i="0">
                <a:solidFill>
                  <a:srgbClr val="1A1A1A"/>
                </a:solidFill>
                <a:latin typeface="Calibri"/>
              </a:rPr>
              <a:t>Understanding these cycles helps the trust plan staffing and resource levels in advance.</a:t>
            </a:r>
          </a:p>
        </p:txBody>
      </p:sp>
      <p:sp>
        <p:nvSpPr>
          <p:cNvPr id="14" name="TextBox 13"/>
          <p:cNvSpPr txBox="1"/>
          <p:nvPr/>
        </p:nvSpPr>
        <p:spPr>
          <a:xfrm>
            <a:off x="8412480" y="4754879"/>
            <a:ext cx="3291840" cy="320040"/>
          </a:xfrm>
          <a:prstGeom prst="rect">
            <a:avLst/>
          </a:prstGeom>
          <a:noFill/>
        </p:spPr>
        <p:txBody>
          <a:bodyPr wrap="square">
            <a:spAutoFit/>
          </a:bodyPr>
          <a:lstStyle/>
          <a:p>
            <a:pPr algn="l"/>
            <a:r>
              <a:rPr sz="1200" b="1" i="0">
                <a:solidFill>
                  <a:srgbClr val="00A499"/>
                </a:solidFill>
                <a:latin typeface="Calibri"/>
              </a:rPr>
              <a:t>› Borough variation</a:t>
            </a:r>
          </a:p>
        </p:txBody>
      </p:sp>
      <p:sp>
        <p:nvSpPr>
          <p:cNvPr id="15" name="TextBox 14"/>
          <p:cNvSpPr txBox="1"/>
          <p:nvPr/>
        </p:nvSpPr>
        <p:spPr>
          <a:xfrm>
            <a:off x="8412480" y="5074919"/>
            <a:ext cx="3291840" cy="594360"/>
          </a:xfrm>
          <a:prstGeom prst="rect">
            <a:avLst/>
          </a:prstGeom>
          <a:noFill/>
        </p:spPr>
        <p:txBody>
          <a:bodyPr wrap="square">
            <a:spAutoFit/>
          </a:bodyPr>
          <a:lstStyle/>
          <a:p>
            <a:pPr algn="l"/>
            <a:r>
              <a:rPr sz="1000" b="0" i="0">
                <a:solidFill>
                  <a:srgbClr val="1A1A1A"/>
                </a:solidFill>
                <a:latin typeface="Calibri"/>
              </a:rPr>
              <a:t>Each borough has a different trend shape, suggesting locally specific demand drivers.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000" b="1" i="0">
                <a:solidFill>
                  <a:srgbClr val="FFFFFF"/>
                </a:solidFill>
                <a:latin typeface="Calibri"/>
              </a:rPr>
              <a:t>Summary &amp; Recommendations</a:t>
            </a:r>
          </a:p>
        </p:txBody>
      </p:sp>
      <p:sp>
        <p:nvSpPr>
          <p:cNvPr id="4" name="Rectangle 3"/>
          <p:cNvSpPr/>
          <p:nvPr/>
        </p:nvSpPr>
        <p:spPr>
          <a:xfrm>
            <a:off x="365760" y="1005840"/>
            <a:ext cx="557784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005840"/>
            <a:ext cx="5577840" cy="7315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70432"/>
            <a:ext cx="5303520" cy="411480"/>
          </a:xfrm>
          <a:prstGeom prst="rect">
            <a:avLst/>
          </a:prstGeom>
          <a:noFill/>
        </p:spPr>
        <p:txBody>
          <a:bodyPr wrap="square">
            <a:spAutoFit/>
          </a:bodyPr>
          <a:lstStyle/>
          <a:p>
            <a:pPr algn="l"/>
            <a:r>
              <a:rPr sz="1400" b="1" i="0">
                <a:solidFill>
                  <a:srgbClr val="0072CE"/>
                </a:solidFill>
                <a:latin typeface="Calibri"/>
              </a:rPr>
              <a:t>Demand Inequality</a:t>
            </a:r>
          </a:p>
        </p:txBody>
      </p:sp>
      <p:sp>
        <p:nvSpPr>
          <p:cNvPr id="7" name="TextBox 6"/>
          <p:cNvSpPr txBox="1"/>
          <p:nvPr/>
        </p:nvSpPr>
        <p:spPr>
          <a:xfrm>
            <a:off x="502920" y="1600200"/>
            <a:ext cx="5303520" cy="1371600"/>
          </a:xfrm>
          <a:prstGeom prst="rect">
            <a:avLst/>
          </a:prstGeom>
          <a:noFill/>
        </p:spPr>
        <p:txBody>
          <a:bodyPr wrap="square">
            <a:spAutoFit/>
          </a:bodyPr>
          <a:lstStyle/>
          <a:p>
            <a:pPr algn="l"/>
            <a:r>
              <a:rPr sz="1200" b="0" i="0">
                <a:solidFill>
                  <a:srgbClr val="1A1A1A"/>
                </a:solidFill>
                <a:latin typeface="Calibri"/>
              </a:rPr>
              <a:t>Barnet receives 2× more referrals than Haringey. The trust should review whether resource allocation reflects actual borough demand.</a:t>
            </a:r>
          </a:p>
        </p:txBody>
      </p:sp>
      <p:sp>
        <p:nvSpPr>
          <p:cNvPr id="8" name="Rectangle 7"/>
          <p:cNvSpPr/>
          <p:nvPr/>
        </p:nvSpPr>
        <p:spPr>
          <a:xfrm>
            <a:off x="6263640" y="1005840"/>
            <a:ext cx="557784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63640" y="1005840"/>
            <a:ext cx="557784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170432"/>
            <a:ext cx="5303520" cy="411480"/>
          </a:xfrm>
          <a:prstGeom prst="rect">
            <a:avLst/>
          </a:prstGeom>
          <a:noFill/>
        </p:spPr>
        <p:txBody>
          <a:bodyPr wrap="square">
            <a:spAutoFit/>
          </a:bodyPr>
          <a:lstStyle/>
          <a:p>
            <a:pPr algn="l"/>
            <a:r>
              <a:rPr sz="1400" b="1" i="0">
                <a:solidFill>
                  <a:srgbClr val="C0392B"/>
                </a:solidFill>
                <a:latin typeface="Calibri"/>
              </a:rPr>
              <a:t>Crisis Prevention</a:t>
            </a:r>
          </a:p>
        </p:txBody>
      </p:sp>
      <p:sp>
        <p:nvSpPr>
          <p:cNvPr id="11" name="TextBox 10"/>
          <p:cNvSpPr txBox="1"/>
          <p:nvPr/>
        </p:nvSpPr>
        <p:spPr>
          <a:xfrm>
            <a:off x="6400800" y="1600200"/>
            <a:ext cx="5303520" cy="1371600"/>
          </a:xfrm>
          <a:prstGeom prst="rect">
            <a:avLst/>
          </a:prstGeom>
          <a:noFill/>
        </p:spPr>
        <p:txBody>
          <a:bodyPr wrap="square">
            <a:spAutoFit/>
          </a:bodyPr>
          <a:lstStyle/>
          <a:p>
            <a:pPr algn="l"/>
            <a:r>
              <a:rPr sz="1200" b="0" i="0">
                <a:solidFill>
                  <a:srgbClr val="1A1A1A"/>
                </a:solidFill>
                <a:latin typeface="Calibri"/>
              </a:rPr>
              <a:t>11,800+ emergency referrals represent significant pressure. Investing in early intervention services could reduce crisis presentations.</a:t>
            </a:r>
          </a:p>
        </p:txBody>
      </p:sp>
      <p:sp>
        <p:nvSpPr>
          <p:cNvPr id="12" name="Rectangle 11"/>
          <p:cNvSpPr/>
          <p:nvPr/>
        </p:nvSpPr>
        <p:spPr>
          <a:xfrm>
            <a:off x="365760" y="3429000"/>
            <a:ext cx="557784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3429000"/>
            <a:ext cx="5577840" cy="73152"/>
          </a:xfrm>
          <a:prstGeom prst="rect">
            <a:avLst/>
          </a:prstGeom>
          <a:solidFill>
            <a:srgbClr val="00A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593592"/>
            <a:ext cx="5303520" cy="411480"/>
          </a:xfrm>
          <a:prstGeom prst="rect">
            <a:avLst/>
          </a:prstGeom>
          <a:noFill/>
        </p:spPr>
        <p:txBody>
          <a:bodyPr wrap="square">
            <a:spAutoFit/>
          </a:bodyPr>
          <a:lstStyle/>
          <a:p>
            <a:pPr algn="l"/>
            <a:r>
              <a:rPr sz="1400" b="1" i="0">
                <a:solidFill>
                  <a:srgbClr val="00A499"/>
                </a:solidFill>
                <a:latin typeface="Calibri"/>
              </a:rPr>
              <a:t>GP as Gateway</a:t>
            </a:r>
          </a:p>
        </p:txBody>
      </p:sp>
      <p:sp>
        <p:nvSpPr>
          <p:cNvPr id="15" name="TextBox 14"/>
          <p:cNvSpPr txBox="1"/>
          <p:nvPr/>
        </p:nvSpPr>
        <p:spPr>
          <a:xfrm>
            <a:off x="502920" y="4023360"/>
            <a:ext cx="5303520" cy="1371600"/>
          </a:xfrm>
          <a:prstGeom prst="rect">
            <a:avLst/>
          </a:prstGeom>
          <a:noFill/>
        </p:spPr>
        <p:txBody>
          <a:bodyPr wrap="square">
            <a:spAutoFit/>
          </a:bodyPr>
          <a:lstStyle/>
          <a:p>
            <a:pPr algn="l"/>
            <a:r>
              <a:rPr sz="1200" b="0" i="0">
                <a:solidFill>
                  <a:srgbClr val="1A1A1A"/>
                </a:solidFill>
                <a:latin typeface="Calibri"/>
              </a:rPr>
              <a:t>GPs drive 38% of referrals. Targeted mental health training for GPs could improve referral quality and reduce A&amp;E presentations.</a:t>
            </a:r>
          </a:p>
        </p:txBody>
      </p:sp>
      <p:sp>
        <p:nvSpPr>
          <p:cNvPr id="16" name="Rectangle 15"/>
          <p:cNvSpPr/>
          <p:nvPr/>
        </p:nvSpPr>
        <p:spPr>
          <a:xfrm>
            <a:off x="6263640" y="3429000"/>
            <a:ext cx="557784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63640" y="3429000"/>
            <a:ext cx="5577840" cy="73152"/>
          </a:xfrm>
          <a:prstGeom prst="rect">
            <a:avLst/>
          </a:prstGeom>
          <a:solidFill>
            <a:srgbClr val="826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3593592"/>
            <a:ext cx="5303520" cy="411480"/>
          </a:xfrm>
          <a:prstGeom prst="rect">
            <a:avLst/>
          </a:prstGeom>
          <a:noFill/>
        </p:spPr>
        <p:txBody>
          <a:bodyPr wrap="square">
            <a:spAutoFit/>
          </a:bodyPr>
          <a:lstStyle/>
          <a:p>
            <a:pPr algn="l"/>
            <a:r>
              <a:rPr sz="1400" b="1" i="0">
                <a:solidFill>
                  <a:srgbClr val="8264C8"/>
                </a:solidFill>
                <a:latin typeface="Calibri"/>
              </a:rPr>
              <a:t>Workforce Planning</a:t>
            </a:r>
          </a:p>
        </p:txBody>
      </p:sp>
      <p:sp>
        <p:nvSpPr>
          <p:cNvPr id="19" name="TextBox 18"/>
          <p:cNvSpPr txBox="1"/>
          <p:nvPr/>
        </p:nvSpPr>
        <p:spPr>
          <a:xfrm>
            <a:off x="6400800" y="4023360"/>
            <a:ext cx="5303520" cy="1371600"/>
          </a:xfrm>
          <a:prstGeom prst="rect">
            <a:avLst/>
          </a:prstGeom>
          <a:noFill/>
        </p:spPr>
        <p:txBody>
          <a:bodyPr wrap="square">
            <a:spAutoFit/>
          </a:bodyPr>
          <a:lstStyle/>
          <a:p>
            <a:pPr algn="l"/>
            <a:r>
              <a:rPr sz="1200" b="0" i="0">
                <a:solidFill>
                  <a:srgbClr val="1A1A1A"/>
                </a:solidFill>
                <a:latin typeface="Calibri"/>
              </a:rPr>
              <a:t>Mid-year demand peaks are consistent. The trust should plan staffing levels in advance of July peaks and address August capacity gaps.</a:t>
            </a:r>
          </a:p>
        </p:txBody>
      </p:sp>
      <p:sp>
        <p:nvSpPr>
          <p:cNvPr id="20" name="TextBox 19"/>
          <p:cNvSpPr txBox="1"/>
          <p:nvPr/>
        </p:nvSpPr>
        <p:spPr>
          <a:xfrm>
            <a:off x="0" y="6492240"/>
            <a:ext cx="12188952" cy="320040"/>
          </a:xfrm>
          <a:prstGeom prst="rect">
            <a:avLst/>
          </a:prstGeom>
          <a:noFill/>
        </p:spPr>
        <p:txBody>
          <a:bodyPr wrap="square">
            <a:spAutoFit/>
          </a:bodyPr>
          <a:lstStyle/>
          <a:p>
            <a:pPr algn="ctr"/>
            <a:r>
              <a:rPr sz="1100" b="0" i="0">
                <a:solidFill>
                  <a:srgbClr val="A8C8E8"/>
                </a:solidFill>
                <a:latin typeface="Calibri"/>
              </a:rPr>
              <a:t>Presented by Lydia Akosah  |  NHS NLFT Work Experience  |  May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1545</Words>
  <Application>Microsoft Macintosh PowerPoint</Application>
  <PresentationFormat>Custom</PresentationFormat>
  <Paragraphs>192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Glam studios</cp:lastModifiedBy>
  <cp:revision>2</cp:revision>
  <dcterms:created xsi:type="dcterms:W3CDTF">2013-01-27T09:14:16Z</dcterms:created>
  <dcterms:modified xsi:type="dcterms:W3CDTF">2026-05-29T08:29:55Z</dcterms:modified>
  <cp:category/>
</cp:coreProperties>
</file>